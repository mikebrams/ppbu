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Roboto Mono"/>
      <p:regular r:id="rId12"/>
      <p:bold r:id="rId13"/>
      <p:italic r:id="rId14"/>
      <p:boldItalic r:id="rId15"/>
    </p:embeddedFont>
    <p:embeddedFont>
      <p:font typeface="Gill Sans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51">
          <p15:clr>
            <a:srgbClr val="A4A3A4"/>
          </p15:clr>
        </p15:guide>
        <p15:guide id="2" orient="horz" pos="3159">
          <p15:clr>
            <a:srgbClr val="A4A3A4"/>
          </p15:clr>
        </p15:guide>
        <p15:guide id="3" orient="horz" pos="981">
          <p15:clr>
            <a:srgbClr val="A4A3A4"/>
          </p15:clr>
        </p15:guide>
        <p15:guide id="4" pos="3840">
          <p15:clr>
            <a:srgbClr val="A4A3A4"/>
          </p15:clr>
        </p15:guide>
        <p15:guide id="5" pos="575">
          <p15:clr>
            <a:srgbClr val="A4A3A4"/>
          </p15:clr>
        </p15:guide>
        <p15:guide id="6" pos="7105">
          <p15:clr>
            <a:srgbClr val="A4A3A4"/>
          </p15:clr>
        </p15:guide>
        <p15:guide id="7" pos="7408">
          <p15:clr>
            <a:srgbClr val="A4A3A4"/>
          </p15:clr>
        </p15:guide>
        <p15:guide id="8" pos="303">
          <p15:clr>
            <a:srgbClr val="A4A3A4"/>
          </p15:clr>
        </p15:guide>
        <p15:guide id="9" pos="1965">
          <p15:clr>
            <a:srgbClr val="A4A3A4"/>
          </p15:clr>
        </p15:guide>
        <p15:guide id="10" pos="5715">
          <p15:clr>
            <a:srgbClr val="A4A3A4"/>
          </p15:clr>
        </p15:guide>
        <p15:guide id="11" pos="4384">
          <p15:clr>
            <a:srgbClr val="A4A3A4"/>
          </p15:clr>
        </p15:guide>
        <p15:guide id="12" orient="horz" pos="3295">
          <p15:clr>
            <a:srgbClr val="A4A3A4"/>
          </p15:clr>
        </p15:guide>
        <p15:guide id="13" orient="horz" pos="216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51" orient="horz"/>
        <p:guide pos="3159" orient="horz"/>
        <p:guide pos="981" orient="horz"/>
        <p:guide pos="3840"/>
        <p:guide pos="575"/>
        <p:guide pos="7105"/>
        <p:guide pos="7408"/>
        <p:guide pos="303"/>
        <p:guide pos="1965"/>
        <p:guide pos="5715"/>
        <p:guide pos="4384"/>
        <p:guide pos="3295" orient="horz"/>
        <p:guide pos="2160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Mono-bold.fntdata"/><Relationship Id="rId12" Type="http://schemas.openxmlformats.org/officeDocument/2006/relationships/font" Target="fonts/RobotoMon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boldItalic.fntdata"/><Relationship Id="rId14" Type="http://schemas.openxmlformats.org/officeDocument/2006/relationships/font" Target="fonts/RobotoMono-italic.fntdata"/><Relationship Id="rId17" Type="http://schemas.openxmlformats.org/officeDocument/2006/relationships/font" Target="fonts/GillSans-bold.fntdata"/><Relationship Id="rId16" Type="http://schemas.openxmlformats.org/officeDocument/2006/relationships/font" Target="fonts/Gill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a998c6eb6b_0_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2a998c6eb6b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2a998c6eb6b_0_7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ac391eb138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2ac391eb13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2ac391eb138_0_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ac391eb138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2ac391eb13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2ac391eb138_0_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ac391eb138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2ac391eb13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2ac391eb138_0_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bg>
      <p:bgPr>
        <a:solidFill>
          <a:schemeClr val="accen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5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" name="Google Shape;22;p2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 Slide 2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" name="Google Shape;33;p3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" name="Google Shape;35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">
  <p:cSld name="Section Header w Photo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" name="Google Shape;48;p4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 (Dark)">
  <p:cSld name="Section Header w Photo (Dark)">
    <p:bg>
      <p:bgPr>
        <a:solidFill>
          <a:schemeClr val="accen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5" name="Google Shape;65;p6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9" name="Google Shape;6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Dark)">
  <p:cSld name="Section Header (Dark)">
    <p:bg>
      <p:bgPr>
        <a:solidFill>
          <a:schemeClr val="accen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 (Dark)">
  <p:cSld name="Title and Content w Number (Dark)">
    <p:bg>
      <p:bgPr>
        <a:solidFill>
          <a:schemeClr val="accen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  <a:defRPr sz="4400">
                <a:solidFill>
                  <a:srgbClr val="DED9E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9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D9E5"/>
              </a:buClr>
              <a:buSzPts val="3600"/>
              <a:buFont typeface="Calibri"/>
              <a:buChar char="•"/>
              <a:defRPr sz="3600">
                <a:solidFill>
                  <a:srgbClr val="DED9E5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3200"/>
              <a:buFont typeface="Calibri"/>
              <a:buChar char="•"/>
              <a:defRPr sz="3200">
                <a:solidFill>
                  <a:srgbClr val="DED9E5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800"/>
              <a:buFont typeface="Calibri"/>
              <a:buChar char="•"/>
              <a:defRPr sz="2800">
                <a:solidFill>
                  <a:srgbClr val="DED9E5"/>
                </a:solidFill>
              </a:defRPr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9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">
  <p:cSld name="Title and Content w Numb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0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Char char="•"/>
              <a:defRPr sz="3600"/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Char char="•"/>
              <a:defRPr sz="3200"/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•"/>
              <a:defRPr sz="2800"/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10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3" name="Google Shape;113;p10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">
  <p:cSld name="Section Header 2 w Photo">
    <p:bg>
      <p:bgPr>
        <a:solidFill>
          <a:schemeClr val="accen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2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12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1" name="Google Shape;131;p12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Big Letters">
  <p:cSld name="Section Header - Big Letters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/>
          <p:nvPr>
            <p:ph type="title"/>
          </p:nvPr>
        </p:nvSpPr>
        <p:spPr>
          <a:xfrm>
            <a:off x="831850" y="1709738"/>
            <a:ext cx="5552182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0"/>
              <a:buFont typeface="Calibri"/>
              <a:buNone/>
              <a:defRPr sz="11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5231904" y="-1"/>
            <a:ext cx="6960097" cy="6661131"/>
            <a:chOff x="6384032" y="0"/>
            <a:chExt cx="5807969" cy="5558492"/>
          </a:xfrm>
        </p:grpSpPr>
        <p:sp>
          <p:nvSpPr>
            <p:cNvPr id="139" name="Google Shape;139;p13"/>
            <p:cNvSpPr/>
            <p:nvPr/>
          </p:nvSpPr>
          <p:spPr>
            <a:xfrm>
              <a:off x="8329881" y="1"/>
              <a:ext cx="3862120" cy="4184987"/>
            </a:xfrm>
            <a:custGeom>
              <a:rect b="b" l="l" r="r" t="t"/>
              <a:pathLst>
                <a:path extrusionOk="0" h="4184987" w="3862120">
                  <a:moveTo>
                    <a:pt x="72632" y="0"/>
                  </a:moveTo>
                  <a:lnTo>
                    <a:pt x="3862120" y="0"/>
                  </a:lnTo>
                  <a:lnTo>
                    <a:pt x="3862120" y="4018645"/>
                  </a:lnTo>
                  <a:lnTo>
                    <a:pt x="3849798" y="4027418"/>
                  </a:lnTo>
                  <a:cubicBezTo>
                    <a:pt x="3719683" y="4109955"/>
                    <a:pt x="3573386" y="4162923"/>
                    <a:pt x="3409263" y="4179440"/>
                  </a:cubicBezTo>
                  <a:cubicBezTo>
                    <a:pt x="2096287" y="4311293"/>
                    <a:pt x="139121" y="2061203"/>
                    <a:pt x="11722" y="786066"/>
                  </a:cubicBezTo>
                  <a:cubicBezTo>
                    <a:pt x="-12601" y="547032"/>
                    <a:pt x="1454" y="312714"/>
                    <a:pt x="49002" y="888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7390509" y="0"/>
              <a:ext cx="4801492" cy="4017462"/>
            </a:xfrm>
            <a:custGeom>
              <a:rect b="b" l="l" r="r" t="t"/>
              <a:pathLst>
                <a:path extrusionOk="0" h="4017462" w="4801492">
                  <a:moveTo>
                    <a:pt x="2063453" y="0"/>
                  </a:moveTo>
                  <a:lnTo>
                    <a:pt x="4801492" y="0"/>
                  </a:lnTo>
                  <a:lnTo>
                    <a:pt x="4801492" y="3620618"/>
                  </a:lnTo>
                  <a:lnTo>
                    <a:pt x="4540736" y="3716067"/>
                  </a:lnTo>
                  <a:cubicBezTo>
                    <a:pt x="4233752" y="3819100"/>
                    <a:pt x="3933647" y="3892546"/>
                    <a:pt x="3663094" y="3936581"/>
                  </a:cubicBezTo>
                  <a:cubicBezTo>
                    <a:pt x="2220509" y="4171435"/>
                    <a:pt x="473668" y="3898601"/>
                    <a:pt x="88907" y="3068732"/>
                  </a:cubicBezTo>
                  <a:cubicBezTo>
                    <a:pt x="-310361" y="2209732"/>
                    <a:pt x="694404" y="899190"/>
                    <a:pt x="1919217" y="89093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6831384" y="0"/>
              <a:ext cx="5360617" cy="3642236"/>
            </a:xfrm>
            <a:custGeom>
              <a:rect b="b" l="l" r="r" t="t"/>
              <a:pathLst>
                <a:path extrusionOk="0" h="3642236" w="5360617">
                  <a:moveTo>
                    <a:pt x="320472" y="0"/>
                  </a:moveTo>
                  <a:lnTo>
                    <a:pt x="5360617" y="0"/>
                  </a:lnTo>
                  <a:lnTo>
                    <a:pt x="5360617" y="3227025"/>
                  </a:lnTo>
                  <a:lnTo>
                    <a:pt x="5351732" y="3232995"/>
                  </a:lnTo>
                  <a:cubicBezTo>
                    <a:pt x="4933670" y="3488463"/>
                    <a:pt x="4475851" y="3642236"/>
                    <a:pt x="4028504" y="3642236"/>
                  </a:cubicBezTo>
                  <a:cubicBezTo>
                    <a:pt x="2596996" y="3642236"/>
                    <a:pt x="0" y="2067594"/>
                    <a:pt x="0" y="624863"/>
                  </a:cubicBezTo>
                  <a:cubicBezTo>
                    <a:pt x="0" y="354352"/>
                    <a:pt x="105767" y="161846"/>
                    <a:pt x="286013" y="23255"/>
                  </a:cubicBez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11397987" y="3867634"/>
              <a:ext cx="794014" cy="1182847"/>
            </a:xfrm>
            <a:custGeom>
              <a:rect b="b" l="l" r="r" t="t"/>
              <a:pathLst>
                <a:path extrusionOk="0" h="1182847" w="794014">
                  <a:moveTo>
                    <a:pt x="794014" y="0"/>
                  </a:moveTo>
                  <a:lnTo>
                    <a:pt x="794014" y="1127001"/>
                  </a:lnTo>
                  <a:lnTo>
                    <a:pt x="772413" y="1134386"/>
                  </a:lnTo>
                  <a:cubicBezTo>
                    <a:pt x="496558" y="1208896"/>
                    <a:pt x="195467" y="1197878"/>
                    <a:pt x="89247" y="1098613"/>
                  </a:cubicBezTo>
                  <a:cubicBezTo>
                    <a:pt x="-80777" y="939851"/>
                    <a:pt x="-224" y="579696"/>
                    <a:pt x="265906" y="295654"/>
                  </a:cubicBezTo>
                  <a:cubicBezTo>
                    <a:pt x="399007" y="154723"/>
                    <a:pt x="553905" y="59098"/>
                    <a:pt x="696781" y="1856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6384032" y="1648242"/>
              <a:ext cx="875650" cy="892153"/>
            </a:xfrm>
            <a:custGeom>
              <a:rect b="b" l="l" r="r" t="t"/>
              <a:pathLst>
                <a:path extrusionOk="0" h="18770" w="19088">
                  <a:moveTo>
                    <a:pt x="18567" y="15982"/>
                  </a:moveTo>
                  <a:cubicBezTo>
                    <a:pt x="20371" y="12782"/>
                    <a:pt x="17299" y="3276"/>
                    <a:pt x="12326" y="688"/>
                  </a:cubicBezTo>
                  <a:cubicBezTo>
                    <a:pt x="7352" y="-1900"/>
                    <a:pt x="2379" y="3418"/>
                    <a:pt x="575" y="6665"/>
                  </a:cubicBezTo>
                  <a:cubicBezTo>
                    <a:pt x="-1229" y="9865"/>
                    <a:pt x="1355" y="14571"/>
                    <a:pt x="6329" y="17159"/>
                  </a:cubicBezTo>
                  <a:cubicBezTo>
                    <a:pt x="11253" y="19700"/>
                    <a:pt x="16763" y="19182"/>
                    <a:pt x="18567" y="159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10139329" y="4982756"/>
              <a:ext cx="604493" cy="575736"/>
            </a:xfrm>
            <a:custGeom>
              <a:rect b="b" l="l" r="r" t="t"/>
              <a:pathLst>
                <a:path extrusionOk="0" h="18783" w="19202">
                  <a:moveTo>
                    <a:pt x="402" y="2508"/>
                  </a:moveTo>
                  <a:cubicBezTo>
                    <a:pt x="-1232" y="5646"/>
                    <a:pt x="2321" y="15132"/>
                    <a:pt x="7365" y="17978"/>
                  </a:cubicBezTo>
                  <a:cubicBezTo>
                    <a:pt x="12410" y="20751"/>
                    <a:pt x="17100" y="15716"/>
                    <a:pt x="18734" y="12651"/>
                  </a:cubicBezTo>
                  <a:cubicBezTo>
                    <a:pt x="20368" y="9513"/>
                    <a:pt x="17597" y="4770"/>
                    <a:pt x="12481" y="1997"/>
                  </a:cubicBezTo>
                  <a:cubicBezTo>
                    <a:pt x="7436" y="-849"/>
                    <a:pt x="2036" y="-630"/>
                    <a:pt x="402" y="25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solidFill>
          <a:schemeClr val="accen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7" name="Google Shape;147;p14"/>
          <p:cNvGrpSpPr/>
          <p:nvPr/>
        </p:nvGrpSpPr>
        <p:grpSpPr>
          <a:xfrm>
            <a:off x="41945" y="620688"/>
            <a:ext cx="12102727" cy="6237315"/>
            <a:chOff x="695401" y="1241443"/>
            <a:chExt cx="10898227" cy="5616559"/>
          </a:xfrm>
        </p:grpSpPr>
        <p:sp>
          <p:nvSpPr>
            <p:cNvPr id="148" name="Google Shape;148;p14"/>
            <p:cNvSpPr/>
            <p:nvPr/>
          </p:nvSpPr>
          <p:spPr>
            <a:xfrm>
              <a:off x="1490608" y="1750568"/>
              <a:ext cx="10103020" cy="5107432"/>
            </a:xfrm>
            <a:custGeom>
              <a:rect b="b" l="l" r="r" t="t"/>
              <a:pathLst>
                <a:path extrusionOk="0" h="5107432" w="10103020">
                  <a:moveTo>
                    <a:pt x="6871207" y="1379"/>
                  </a:moveTo>
                  <a:cubicBezTo>
                    <a:pt x="9201349" y="-49256"/>
                    <a:pt x="9924407" y="1306731"/>
                    <a:pt x="10061003" y="2144415"/>
                  </a:cubicBezTo>
                  <a:cubicBezTo>
                    <a:pt x="10257314" y="3348198"/>
                    <a:pt x="9746101" y="4316998"/>
                    <a:pt x="8937022" y="5053985"/>
                  </a:cubicBezTo>
                  <a:lnTo>
                    <a:pt x="8872567" y="5107432"/>
                  </a:lnTo>
                  <a:lnTo>
                    <a:pt x="13161" y="5107432"/>
                  </a:lnTo>
                  <a:lnTo>
                    <a:pt x="3817" y="5033897"/>
                  </a:lnTo>
                  <a:cubicBezTo>
                    <a:pt x="-110911" y="3389245"/>
                    <a:pt x="2382588" y="1054048"/>
                    <a:pt x="4513496" y="417007"/>
                  </a:cubicBezTo>
                  <a:cubicBezTo>
                    <a:pt x="5440331" y="140015"/>
                    <a:pt x="6218767" y="15557"/>
                    <a:pt x="6871207" y="1379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695401" y="1241443"/>
              <a:ext cx="9953877" cy="5616559"/>
            </a:xfrm>
            <a:custGeom>
              <a:rect b="b" l="l" r="r" t="t"/>
              <a:pathLst>
                <a:path extrusionOk="0" h="5616559" w="9953877">
                  <a:moveTo>
                    <a:pt x="8316277" y="1305"/>
                  </a:moveTo>
                  <a:cubicBezTo>
                    <a:pt x="9547873" y="44247"/>
                    <a:pt x="9953877" y="1142193"/>
                    <a:pt x="9953877" y="2552872"/>
                  </a:cubicBezTo>
                  <a:cubicBezTo>
                    <a:pt x="9953877" y="3578820"/>
                    <a:pt x="9406759" y="4651671"/>
                    <a:pt x="8605150" y="5468034"/>
                  </a:cubicBezTo>
                  <a:lnTo>
                    <a:pt x="8447294" y="5616559"/>
                  </a:lnTo>
                  <a:lnTo>
                    <a:pt x="2330142" y="5616559"/>
                  </a:lnTo>
                  <a:lnTo>
                    <a:pt x="2101259" y="5468034"/>
                  </a:lnTo>
                  <a:cubicBezTo>
                    <a:pt x="923384" y="4651671"/>
                    <a:pt x="0" y="3578820"/>
                    <a:pt x="0" y="2552872"/>
                  </a:cubicBezTo>
                  <a:cubicBezTo>
                    <a:pt x="0" y="500976"/>
                    <a:pt x="4278785" y="1604796"/>
                    <a:pt x="6085691" y="666388"/>
                  </a:cubicBezTo>
                  <a:cubicBezTo>
                    <a:pt x="7026067" y="180244"/>
                    <a:pt x="7756460" y="-18214"/>
                    <a:pt x="8316277" y="13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4"/>
          <p:cNvSpPr txBox="1"/>
          <p:nvPr>
            <p:ph idx="1" type="body"/>
          </p:nvPr>
        </p:nvSpPr>
        <p:spPr>
          <a:xfrm>
            <a:off x="983431" y="1988719"/>
            <a:ext cx="9505181" cy="3699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14"/>
          <p:cNvSpPr txBox="1"/>
          <p:nvPr>
            <p:ph idx="2" type="body"/>
          </p:nvPr>
        </p:nvSpPr>
        <p:spPr>
          <a:xfrm>
            <a:off x="4035675" y="5880905"/>
            <a:ext cx="3400692" cy="647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2" name="Google Shape;152;p14"/>
          <p:cNvSpPr/>
          <p:nvPr/>
        </p:nvSpPr>
        <p:spPr>
          <a:xfrm>
            <a:off x="303229" y="1621497"/>
            <a:ext cx="1049353" cy="1069130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" name="Google Shape;153;p14"/>
          <p:cNvSpPr/>
          <p:nvPr/>
        </p:nvSpPr>
        <p:spPr>
          <a:xfrm rot="10800000">
            <a:off x="1487488" y="1643744"/>
            <a:ext cx="724406" cy="689945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4" name="Google Shape;15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5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bg>
      <p:bgPr>
        <a:solidFill>
          <a:schemeClr val="accen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6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3208844" y="1651975"/>
            <a:ext cx="7779006" cy="5348770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 (bis)">
  <p:cSld name="Section Header 2 w Photo (bis)">
    <p:bg>
      <p:bgPr>
        <a:solidFill>
          <a:schemeClr val="accen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/>
          <p:nvPr>
            <p:ph type="title"/>
          </p:nvPr>
        </p:nvSpPr>
        <p:spPr>
          <a:xfrm>
            <a:off x="831850" y="405909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7"/>
          <p:cNvSpPr txBox="1"/>
          <p:nvPr>
            <p:ph idx="1" type="body"/>
          </p:nvPr>
        </p:nvSpPr>
        <p:spPr>
          <a:xfrm>
            <a:off x="831850" y="163058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3" name="Google Shape;183;p17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 Numbers">
  <p:cSld name="Title Only w Number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4" name="Google Shape;194;p18"/>
          <p:cNvSpPr txBox="1"/>
          <p:nvPr>
            <p:ph idx="1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8" name="Google Shape;198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0" name="Google Shape;200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07" name="Google Shape;20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8" name="Google Shape;20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5" name="Google Shape;21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2"/>
          <p:cNvSpPr txBox="1"/>
          <p:nvPr>
            <p:ph idx="1" type="body"/>
          </p:nvPr>
        </p:nvSpPr>
        <p:spPr>
          <a:xfrm rot="5400000">
            <a:off x="3785915" y="-1390922"/>
            <a:ext cx="4620171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>
            <p:ph type="ctrTitle"/>
          </p:nvPr>
        </p:nvSpPr>
        <p:spPr>
          <a:xfrm>
            <a:off x="2887900" y="2157425"/>
            <a:ext cx="66492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</a:pPr>
            <a:r>
              <a:rPr lang="en-US"/>
              <a:t>Функция enumerate()</a:t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161928" y="4872917"/>
            <a:ext cx="586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</a:pPr>
            <a:r>
              <a:rPr lang="en-US"/>
              <a:t>Курс “</a:t>
            </a:r>
            <a:r>
              <a:rPr lang="en-US"/>
              <a:t>Python для начинающих</a:t>
            </a:r>
            <a:r>
              <a:rPr lang="en-US"/>
              <a:t>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Функция enumerate()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43" name="Google Shape;243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4" name="Google Shape;244;p25"/>
          <p:cNvSpPr txBox="1"/>
          <p:nvPr>
            <p:ph idx="1" type="body"/>
          </p:nvPr>
        </p:nvSpPr>
        <p:spPr>
          <a:xfrm>
            <a:off x="184575" y="1711150"/>
            <a:ext cx="11905500" cy="26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Это полезная функция, которая используется в циклах for. Она добавляет счетчик к итерируемым объектам, таким как списки или кортежи. 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Вместо того чтобы просто получать значения из списка, enumerate() позволяет получать и индекс, и значение на каждом шаге цикла.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Пример </a:t>
            </a:r>
            <a:r>
              <a:rPr lang="en-US">
                <a:solidFill>
                  <a:schemeClr val="dk2"/>
                </a:solidFill>
              </a:rPr>
              <a:t>enumerate()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1" name="Google Shape;251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2" name="Google Shape;252;p26"/>
          <p:cNvSpPr txBox="1"/>
          <p:nvPr>
            <p:ph idx="1" type="body"/>
          </p:nvPr>
        </p:nvSpPr>
        <p:spPr>
          <a:xfrm>
            <a:off x="184575" y="1711150"/>
            <a:ext cx="11905500" cy="26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names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[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"Алексей"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"Елена"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"Михаил"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"Николай"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]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enumerate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names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26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f"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. 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Алексей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1.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Елена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2.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Михаил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3.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Николай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Пример enumerate()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9" name="Google Shape;259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0" name="Google Shape;260;p27"/>
          <p:cNvSpPr txBox="1"/>
          <p:nvPr>
            <p:ph idx="1" type="body"/>
          </p:nvPr>
        </p:nvSpPr>
        <p:spPr>
          <a:xfrm>
            <a:off x="184575" y="1711150"/>
            <a:ext cx="11905500" cy="26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names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[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"Алексей"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"Елена"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"Михаил"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"Николай"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]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enumerate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names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26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f"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b="1" lang="en-US" sz="2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n-US" sz="2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. 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US" sz="2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Алексей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US" sz="2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Елена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-US" sz="2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Михаил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-US" sz="2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Николай</a:t>
            </a:r>
            <a:endParaRPr sz="2600"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Пример enumerate()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67" name="Google Shape;267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" name="Google Shape;268;p28"/>
          <p:cNvSpPr txBox="1"/>
          <p:nvPr>
            <p:ph idx="1" type="body"/>
          </p:nvPr>
        </p:nvSpPr>
        <p:spPr>
          <a:xfrm>
            <a:off x="184575" y="1711150"/>
            <a:ext cx="11905500" cy="26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fruits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4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[</a:t>
            </a:r>
            <a:r>
              <a:rPr lang="en-US" sz="24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"яблоко"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4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"банан"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4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"киви"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4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"манго"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]</a:t>
            </a:r>
            <a:endParaRPr sz="24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4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4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"киви"</a:t>
            </a:r>
            <a:endParaRPr sz="24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4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4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fruit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4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4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enumerate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4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fruits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sz="24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4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4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fruit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4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==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4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24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-US" sz="24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4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f"Фрукт '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US" sz="24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n-US" sz="24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 находится на позиции: 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US" sz="24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4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4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n-US" sz="24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4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24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break</a:t>
            </a:r>
            <a:endParaRPr sz="24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2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#Фрукт 'киви' находится на позиции: 3</a:t>
            </a:r>
            <a:endParaRPr sz="2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type="title"/>
          </p:nvPr>
        </p:nvSpPr>
        <p:spPr>
          <a:xfrm>
            <a:off x="763600" y="2224563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Спасибо за внимание!</a:t>
            </a:r>
            <a:endParaRPr/>
          </a:p>
        </p:txBody>
      </p:sp>
      <p:sp>
        <p:nvSpPr>
          <p:cNvPr id="275" name="Google Shape;275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Sho-Template06">
      <a:dk1>
        <a:srgbClr val="000000"/>
      </a:dk1>
      <a:lt1>
        <a:srgbClr val="FFFFFF"/>
      </a:lt1>
      <a:dk2>
        <a:srgbClr val="3D4149"/>
      </a:dk2>
      <a:lt2>
        <a:srgbClr val="E7E6E6"/>
      </a:lt2>
      <a:accent1>
        <a:srgbClr val="403551"/>
      </a:accent1>
      <a:accent2>
        <a:srgbClr val="D0343C"/>
      </a:accent2>
      <a:accent3>
        <a:srgbClr val="F9BE75"/>
      </a:accent3>
      <a:accent4>
        <a:srgbClr val="8DB1C4"/>
      </a:accent4>
      <a:accent5>
        <a:srgbClr val="615474"/>
      </a:accent5>
      <a:accent6>
        <a:srgbClr val="E4625C"/>
      </a:accent6>
      <a:hlink>
        <a:srgbClr val="E4625C"/>
      </a:hlink>
      <a:folHlink>
        <a:srgbClr val="D0343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