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12192000"/>
  <p:notesSz cx="6858000" cy="9144000"/>
  <p:embeddedFontLst>
    <p:embeddedFont>
      <p:font typeface="Roboto"/>
      <p:regular r:id="rId44"/>
      <p:bold r:id="rId45"/>
      <p:italic r:id="rId46"/>
      <p:boldItalic r:id="rId47"/>
    </p:embeddedFont>
    <p:embeddedFont>
      <p:font typeface="Roboto Mono"/>
      <p:regular r:id="rId48"/>
      <p:bold r:id="rId49"/>
      <p:italic r:id="rId50"/>
      <p:boldItalic r:id="rId51"/>
    </p:embeddedFont>
    <p:embeddedFont>
      <p:font typeface="Gill Sans"/>
      <p:regular r:id="rId52"/>
      <p:bold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Roboto-regular.fntdata"/><Relationship Id="rId43" Type="http://schemas.openxmlformats.org/officeDocument/2006/relationships/slide" Target="slides/slide38.xml"/><Relationship Id="rId46" Type="http://schemas.openxmlformats.org/officeDocument/2006/relationships/font" Target="fonts/Roboto-italic.fntdata"/><Relationship Id="rId45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regular.fntdata"/><Relationship Id="rId47" Type="http://schemas.openxmlformats.org/officeDocument/2006/relationships/font" Target="fonts/Roboto-boldItalic.fntdata"/><Relationship Id="rId4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boldItalic.fntdata"/><Relationship Id="rId50" Type="http://schemas.openxmlformats.org/officeDocument/2006/relationships/font" Target="fonts/RobotoMono-italic.fntdata"/><Relationship Id="rId53" Type="http://schemas.openxmlformats.org/officeDocument/2006/relationships/font" Target="fonts/GillSans-bold.fntdata"/><Relationship Id="rId52" Type="http://schemas.openxmlformats.org/officeDocument/2006/relationships/font" Target="fonts/GillSans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39d1a30fc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39d1a30f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Функции в Python — это блоки кода, которые могут использоваться многократно.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Функции позволяют разбивать программу на кусочки, повышая читаемость и удобство поддержки кода.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Они также позволяют избежать повторения кода и делают его более модульным.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0" name="Google Shape;240;g2a39d1a30fc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998c6eb6b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a998c6eb6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Функция определяется с помощью ключевого слова def, за которым следует имя функции и круглые скобки ().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Аргументы, передаваемые функции, указываются внутри скобок.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После этого идет тело функции, начинающееся с двоеточия и с отступом.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a998c6eb6b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998c6eb6b_0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a998c6eb6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Чтобы выполнить функцию, её нужно вызвать по имени с соответствующими аргументами.</a:t>
            </a:r>
            <a:endParaRPr/>
          </a:p>
        </p:txBody>
      </p:sp>
      <p:sp>
        <p:nvSpPr>
          <p:cNvPr id="256" name="Google Shape;256;g2a998c6eb6b_0_7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998c6eb6b_0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2a998c6eb6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Аргументы — значения, которые передаются при вызове функции.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Параметры — это значения, которые мы используем при описании функции.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a998c6eb6b_0_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998c6eb6b_0_1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2a998c6eb6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Аргументы по умолчанию используются, если при вызове функции они не указаны явно. Они делают функцию более гибкой и позволяют обрабатывать ситуации, когда аргументы не предоставлены.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a998c6eb6b_0_1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998c6eb6b_0_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2a998c6eb6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 этом примере параметр name имеет значение по умолчанию "Гость".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Это значит, что если при вызове функции greet аргумент name не будет указан, Python автоматически использует значение "Гость".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a998c6eb6b_0_1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a998c6eb6b_0_1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2a998c6eb6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Вызов без аргументов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Если вызвать функцию greet() без аргументов, она использует значение по умолчанию и выводит "Привет, Гость!"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2a998c6eb6b_0_1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a998c6eb6b_0_1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2a998c6eb6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Вызов с аргументом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Если функция вызывается с аргументом, этот аргумент переопределяет значение по умолчанию.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2a998c6eb6b_0_1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a998c6eb6b_0_1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2a998c6eb6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Функции могут возвращать значения с помощью оператора return.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Если return не указан, то функция возвращает None.</a:t>
            </a:r>
            <a:endParaRPr/>
          </a:p>
        </p:txBody>
      </p:sp>
      <p:sp>
        <p:nvSpPr>
          <p:cNvPr id="304" name="Google Shape;304;g2a998c6eb6b_0_1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a9bae8b3db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2a9bae8b3d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Функции могут возвращать значения с помощью оператора return.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Если return не указан, то функция возвращает None.</a:t>
            </a:r>
            <a:endParaRPr/>
          </a:p>
        </p:txBody>
      </p:sp>
      <p:sp>
        <p:nvSpPr>
          <p:cNvPr id="312" name="Google Shape;312;g2a9bae8b3db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a998c6eb6b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2a998c6eb6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 Python None является специальным значением, используемым для обозначения отсутствия значения или пустого значения.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None может быть использовано для инициализации переменной, когда конкретное значение будет назначено позже.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2a998c6eb6b_0_1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a998c6eb6b_0_1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2a998c6eb6b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В этом примере функция greet принимает два параметра: name и greeting.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greeting имеет значение по умолчанию None. Это означает, что если аргумент greeting не передается при вызове функции, его значение будет None.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Внутри функции происходит проверка: если greeting равно None, то ему присваивается значение "Привет".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Затем функция выводит приветствие с именем.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Таким образом, этот параметр является необязательным, и функция может быть вызвана как с ним, так и без него.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2a998c6eb6b_0_17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a9dae100a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2a9dae100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Позиционные аргументы — это аргументы, которые передаются в функцию в том порядке, в котором они определены в объявлении функции.</a:t>
            </a:r>
            <a:endParaRPr/>
          </a:p>
        </p:txBody>
      </p:sp>
      <p:sp>
        <p:nvSpPr>
          <p:cNvPr id="336" name="Google Shape;336;g2a9dae100ab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a9dae100ab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2a9dae100a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Именованные аргументы — это аргументы, передаваемые в функцию, где каждому аргументу явно присваивается имя параметра в определении функции.</a:t>
            </a:r>
            <a:endParaRPr/>
          </a:p>
        </p:txBody>
      </p:sp>
      <p:sp>
        <p:nvSpPr>
          <p:cNvPr id="344" name="Google Shape;344;g2a9dae100ab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a998c6eb6b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2a998c6eb6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 помощью *args и **kwargs можно передать в функцию переменное количество аргументов.</a:t>
            </a:r>
            <a:endParaRPr/>
          </a:p>
        </p:txBody>
      </p:sp>
      <p:sp>
        <p:nvSpPr>
          <p:cNvPr id="352" name="Google Shape;352;g2a998c6eb6b_0_1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a998c6eb6b_0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2a998c6eb6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*args позволяет функции принимать любое количество позиционных аргументов.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Аргументы, переданные с *args, доступны внутри функции как кортеж.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2a998c6eb6b_0_1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a998c6eb6b_0_1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2a998c6eb6b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**kwargs позволяет функции принимать произвольное количество именованных аргументов (аргументов с ключевыми словами).</a:t>
            </a:r>
            <a:endParaRPr/>
          </a:p>
        </p:txBody>
      </p:sp>
      <p:sp>
        <p:nvSpPr>
          <p:cNvPr id="368" name="Google Shape;368;g2a998c6eb6b_0_1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a998c6eb6b_0_1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2a998c6eb6b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Функции могут использовать и *args, и **kwargs одновременно, чтобы принимать любую комбинацию позиционных и именованных аргументов.</a:t>
            </a:r>
            <a:endParaRPr/>
          </a:p>
        </p:txBody>
      </p:sp>
      <p:sp>
        <p:nvSpPr>
          <p:cNvPr id="376" name="Google Shape;376;g2a998c6eb6b_0_1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a998c6eb6b_0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2a998c6eb6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*args и **kwargs — это просто соглашения.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Вместо args и kwargs можно использовать любые другие названия, главное — сохранить звёздочки * и **.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 использовании *args и **kwargs важно соблюдать порядок: сначала идут обычные аргументы, затем *args, и в конце **kwargs.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2a998c6eb6b_0_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a998c6eb6b_0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2a998c6eb6b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2a998c6eb6b_0_2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a998c6eb6b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2a998c6eb6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Локальные переменные — это переменные, определенные внутри функции, доступны только в этой функции и не видны за ее пределами.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Глобальные переменные — это переменные, определенные вне функций, в основном коде программы, видны в любом месте в этой программе.</a:t>
            </a:r>
            <a:endParaRPr/>
          </a:p>
        </p:txBody>
      </p:sp>
      <p:sp>
        <p:nvSpPr>
          <p:cNvPr id="400" name="Google Shape;400;g2a998c6eb6b_0_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a9bae8b3db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2a9bae8b3d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 этом примере переменная x определена как в глобальной области видимости, так и в локальной области видимости функции my_func. Когда мы печатаем x внутри my_func, используется локальная версия. Вне функции используется глобальная версия.</a:t>
            </a:r>
            <a:endParaRPr/>
          </a:p>
        </p:txBody>
      </p:sp>
      <p:sp>
        <p:nvSpPr>
          <p:cNvPr id="408" name="Google Shape;408;g2a9bae8b3db_0_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a9bae8b3db_0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2a9bae8b3d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Здесь переменная y определена в глобальной области видимости. В функции set_new_value, мы явно указываем Python использовать глобальную переменную y с помощью ключевого слова global. После вызова функции значение y в глобальной области видимости меняется.</a:t>
            </a:r>
            <a:endParaRPr/>
          </a:p>
        </p:txBody>
      </p:sp>
      <p:sp>
        <p:nvSpPr>
          <p:cNvPr id="416" name="Google Shape;416;g2a9bae8b3db_0_6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a998c6eb6b_0_2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2a998c6eb6b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Лямбда-функция определяется с помощью ключевого слова lambda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arguments — это список аргументов (как в обычной функции), а expression — выражение, которое возвращает лямбда-функция.</a:t>
            </a:r>
            <a:endParaRPr/>
          </a:p>
        </p:txBody>
      </p:sp>
      <p:sp>
        <p:nvSpPr>
          <p:cNvPr id="424" name="Google Shape;424;g2a998c6eb6b_0_20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a9bae8b3db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2a9bae8b3d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Лямбда-функция может содержать только одно выражение и не может содержать блоки команд, включающие в себя множество выражений или операторы управления потоком выполнения (такие как if, for).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Лямбда-функции часто используются там, где требуются небольшие функции, но создание отдельной функции через def было бы излишним.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2a9bae8b3db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a9bae8b3db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2a9bae8b3d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2a9bae8b3db_0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a9bae8b3db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2a9bae8b3d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2a9bae8b3db_0_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a9bae8b3db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2a9bae8b3d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2a9bae8b3db_0_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a9bae8b3db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2a9bae8b3d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2a9bae8b3db_0_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a9bae8b3db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g2a9bae8b3d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2a9bae8b3db_0_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a998c6eb6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g2a998c6eb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2a998c6eb6b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a998c6eb6b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2a998c6eb6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2a998c6eb6b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a998c6eb6b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2a998c6eb6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2a998c6eb6b_0_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a998c6eb6b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2a998c6eb6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2a998c6eb6b_0_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a998c6eb6b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2a998c6eb6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2a998c6eb6b_0_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a998c6eb6b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g2a998c6eb6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2a998c6eb6b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Функции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Функции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184575" y="1711150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Функции в Python — это блоки кода, которые могут использоваться многократно. 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Функции позволяют разбивать программу на кусочки, повышая читаемость и удобство поддержки кода. 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Они также позволяют избежать повторения кода и делают его более модульным.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Определение функции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184575" y="1711150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Функция определяется с помощью ключевого слова </a:t>
            </a:r>
            <a:r>
              <a:rPr b="1" lang="en-US" sz="2600">
                <a:solidFill>
                  <a:schemeClr val="dk2"/>
                </a:solidFill>
              </a:rPr>
              <a:t>def</a:t>
            </a:r>
            <a:r>
              <a:rPr lang="en-US" sz="2600">
                <a:solidFill>
                  <a:schemeClr val="dk2"/>
                </a:solidFill>
              </a:rPr>
              <a:t>, за которым следует имя функции и круглые скобки (). 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Аргументы, передаваемые функции, указываются внутри скобок. 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После этого идет тело функции, начинающееся с двоеточия и с отступом.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my_function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arg1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arg2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n-US" sz="3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Действия функции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arg1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arg2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Вызов функции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184575" y="1711150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Чтобы выполнить функцию, её нужно вызвать по имени с соответствующими аргументами.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my_function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20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Аргументы и параметры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184575" y="1711150"/>
            <a:ext cx="119055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Аргументы — значения, которые передаются при вызове функции. 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-US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my_function</a:t>
            </a:r>
            <a:r>
              <a:rPr lang="en-US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US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20</a:t>
            </a:r>
            <a:r>
              <a:rPr lang="en-US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#10 и 20 это аргументы</a:t>
            </a:r>
            <a:endParaRPr sz="3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Параметры — это значения, которые мы используем при описании функции.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my_function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arg1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arg2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arg1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arg2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i="1" lang="en-US" sz="3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#arg1 и arg2 это параметры</a:t>
            </a:r>
            <a:endParaRPr i="1" sz="30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0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30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Аргументы по умолчанию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184575" y="1711150"/>
            <a:ext cx="119055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Функции могут иметь аргументы со значениями по умолчанию.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greet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"Гость"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3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f"Привет, 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!"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Аргументы по умолчанию используются, если при вызове функции они не указаны явно. Они делают функцию более гибкой и позволяют обрабатывать ситуации, когда аргументы не предоставлены.</a:t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Аргументы по умолчанию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3" name="Google Shape;283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30"/>
          <p:cNvSpPr txBox="1"/>
          <p:nvPr>
            <p:ph idx="1" type="body"/>
          </p:nvPr>
        </p:nvSpPr>
        <p:spPr>
          <a:xfrm>
            <a:off x="184575" y="1711150"/>
            <a:ext cx="119055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greet</a:t>
            </a:r>
            <a:r>
              <a:rPr lang="en-US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"Гость"</a:t>
            </a:r>
            <a:r>
              <a:rPr lang="en-US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3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3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f"Привет, </a:t>
            </a:r>
            <a:r>
              <a:rPr lang="en-US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!"</a:t>
            </a:r>
            <a:r>
              <a:rPr lang="en-US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В этом примере параметр name имеет значение по умолчанию "Гость". 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Это значит, что если при вызове функции </a:t>
            </a:r>
            <a:r>
              <a:rPr b="1" lang="en-US" sz="2600">
                <a:solidFill>
                  <a:schemeClr val="dk2"/>
                </a:solidFill>
              </a:rPr>
              <a:t>greet() </a:t>
            </a:r>
            <a:r>
              <a:rPr lang="en-US" sz="2600">
                <a:solidFill>
                  <a:schemeClr val="dk2"/>
                </a:solidFill>
              </a:rPr>
              <a:t>аргумент </a:t>
            </a:r>
            <a:r>
              <a:rPr b="1" lang="en-US" sz="2600">
                <a:solidFill>
                  <a:schemeClr val="dk2"/>
                </a:solidFill>
              </a:rPr>
              <a:t>name </a:t>
            </a:r>
            <a:r>
              <a:rPr lang="en-US" sz="2600">
                <a:solidFill>
                  <a:schemeClr val="dk2"/>
                </a:solidFill>
              </a:rPr>
              <a:t>не будет указан, Python автоматически использует значение "Гость".</a:t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Примеры использования greet()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1" name="Google Shape;291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31"/>
          <p:cNvSpPr txBox="1"/>
          <p:nvPr>
            <p:ph idx="1" type="body"/>
          </p:nvPr>
        </p:nvSpPr>
        <p:spPr>
          <a:xfrm>
            <a:off x="184575" y="1711150"/>
            <a:ext cx="119055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Вызов без аргументов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Если вызвать функцию greet() без аргументов, она использует значение по умолчанию и выводит "Привет, Гость!"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greet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Вывод: Привет, Гость!</a:t>
            </a:r>
            <a:endParaRPr i="1" sz="30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Примеры использования greet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9" name="Google Shape;299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32"/>
          <p:cNvSpPr txBox="1"/>
          <p:nvPr>
            <p:ph idx="1" type="body"/>
          </p:nvPr>
        </p:nvSpPr>
        <p:spPr>
          <a:xfrm>
            <a:off x="184575" y="1711150"/>
            <a:ext cx="119055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Вызов с аргументом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Если функция вызывается с аргументом, этот аргумент переопределяет значение по умолчанию.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greet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"Сергей"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Вывод: Привет, Сергей!</a:t>
            </a:r>
            <a:endParaRPr i="1" sz="30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Возвращаемое значение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7" name="Google Shape;307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33"/>
          <p:cNvSpPr txBox="1"/>
          <p:nvPr>
            <p:ph idx="1" type="body"/>
          </p:nvPr>
        </p:nvSpPr>
        <p:spPr>
          <a:xfrm>
            <a:off x="184575" y="1711150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Функции могут возвращать значения с помощью оператора </a:t>
            </a:r>
            <a:r>
              <a:rPr b="1" lang="en-US" sz="3000">
                <a:solidFill>
                  <a:schemeClr val="dk2"/>
                </a:solidFill>
              </a:rPr>
              <a:t>return</a:t>
            </a:r>
            <a:r>
              <a:rPr lang="en-US" sz="3000">
                <a:solidFill>
                  <a:schemeClr val="dk2"/>
                </a:solidFill>
              </a:rPr>
              <a:t>.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Если </a:t>
            </a:r>
            <a:r>
              <a:rPr b="1" lang="en-US" sz="3000">
                <a:solidFill>
                  <a:schemeClr val="dk2"/>
                </a:solidFill>
              </a:rPr>
              <a:t>return </a:t>
            </a:r>
            <a:r>
              <a:rPr lang="en-US" sz="3000">
                <a:solidFill>
                  <a:schemeClr val="dk2"/>
                </a:solidFill>
              </a:rPr>
              <a:t>не указан, то функция возвращает </a:t>
            </a:r>
            <a:r>
              <a:rPr b="1" lang="en-US" sz="3000">
                <a:solidFill>
                  <a:schemeClr val="dk2"/>
                </a:solidFill>
              </a:rPr>
              <a:t>None</a:t>
            </a:r>
            <a:r>
              <a:rPr lang="en-US" sz="3000">
                <a:solidFill>
                  <a:schemeClr val="dk2"/>
                </a:solidFill>
              </a:rPr>
              <a:t>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Пример функции без return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15" name="Google Shape;315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6" name="Google Shape;316;p34"/>
          <p:cNvSpPr txBox="1"/>
          <p:nvPr>
            <p:ph idx="1" type="body"/>
          </p:nvPr>
        </p:nvSpPr>
        <p:spPr>
          <a:xfrm>
            <a:off x="481025" y="1691450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greeting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3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f"Привет, 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!"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greeting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"Михаил"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#Выведет: Привет, Михаил!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 </a:t>
            </a:r>
            <a:r>
              <a:rPr i="1" lang="en-US" sz="3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Выведет: None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None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3" name="Google Shape;323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35"/>
          <p:cNvSpPr txBox="1"/>
          <p:nvPr>
            <p:ph idx="1" type="body"/>
          </p:nvPr>
        </p:nvSpPr>
        <p:spPr>
          <a:xfrm>
            <a:off x="184575" y="1711150"/>
            <a:ext cx="119055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</a:rPr>
              <a:t>В Python None является специальным значением, используемым для обозначения отсутствия значения или пустого значения. </a:t>
            </a:r>
            <a:endParaRPr sz="3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</a:rPr>
              <a:t>None может быть использовано для инициализации переменной, когда конкретное значение будет назначено позже. </a:t>
            </a:r>
            <a:endParaRPr sz="3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v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endParaRPr b="1">
              <a:solidFill>
                <a:srgbClr val="7000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Аргумент по умолчанию </a:t>
            </a:r>
            <a:r>
              <a:rPr lang="en-US">
                <a:solidFill>
                  <a:schemeClr val="dk2"/>
                </a:solidFill>
              </a:rPr>
              <a:t>None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1" name="Google Shape;331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p36"/>
          <p:cNvSpPr txBox="1"/>
          <p:nvPr>
            <p:ph idx="1" type="body"/>
          </p:nvPr>
        </p:nvSpPr>
        <p:spPr>
          <a:xfrm>
            <a:off x="184575" y="1711150"/>
            <a:ext cx="119055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greet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greeting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  </a:t>
            </a: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#greeting — приветствие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greeting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greeting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"Привет"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greeting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!"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Вызов функции с использованием приветствия по умолчанию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greet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"Алексей"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Вывод: Привет, Алексей!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Вызов функции с указанием всех параметров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greet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"Алексей"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"Добрый день"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Вывод: Добрый день, Алексей!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>
            <p:ph type="title"/>
          </p:nvPr>
        </p:nvSpPr>
        <p:spPr>
          <a:xfrm>
            <a:off x="2925276" y="136525"/>
            <a:ext cx="9266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 sz="3800">
                <a:solidFill>
                  <a:schemeClr val="dk2"/>
                </a:solidFill>
              </a:rPr>
              <a:t>Позиционные и именованные аргументы</a:t>
            </a:r>
            <a:endParaRPr sz="3800">
              <a:solidFill>
                <a:schemeClr val="dk2"/>
              </a:solidFill>
            </a:endParaRPr>
          </a:p>
        </p:txBody>
      </p:sp>
      <p:sp>
        <p:nvSpPr>
          <p:cNvPr id="339" name="Google Shape;339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0" name="Google Shape;340;p37"/>
          <p:cNvSpPr txBox="1"/>
          <p:nvPr>
            <p:ph idx="1" type="body"/>
          </p:nvPr>
        </p:nvSpPr>
        <p:spPr>
          <a:xfrm>
            <a:off x="39425" y="1711150"/>
            <a:ext cx="121098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Позиционные аргументы — это аргументы, которые передаются в функцию в том порядке, в котором они определены в объявлении функции.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1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describe_pet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3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31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f"У меня есть 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3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3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по имени 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3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3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."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describe_pet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'хомяк'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'Гарри'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8"/>
          <p:cNvSpPr txBox="1"/>
          <p:nvPr>
            <p:ph type="title"/>
          </p:nvPr>
        </p:nvSpPr>
        <p:spPr>
          <a:xfrm>
            <a:off x="2925276" y="136525"/>
            <a:ext cx="9266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 sz="3800">
                <a:solidFill>
                  <a:schemeClr val="dk2"/>
                </a:solidFill>
              </a:rPr>
              <a:t>И</a:t>
            </a:r>
            <a:r>
              <a:rPr lang="en-US" sz="3800">
                <a:solidFill>
                  <a:schemeClr val="dk2"/>
                </a:solidFill>
              </a:rPr>
              <a:t>менованные аргументы</a:t>
            </a:r>
            <a:endParaRPr sz="3800">
              <a:solidFill>
                <a:schemeClr val="dk2"/>
              </a:solidFill>
            </a:endParaRPr>
          </a:p>
        </p:txBody>
      </p:sp>
      <p:sp>
        <p:nvSpPr>
          <p:cNvPr id="347" name="Google Shape;347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8" name="Google Shape;348;p38"/>
          <p:cNvSpPr txBox="1"/>
          <p:nvPr>
            <p:ph idx="1" type="body"/>
          </p:nvPr>
        </p:nvSpPr>
        <p:spPr>
          <a:xfrm>
            <a:off x="39425" y="1711150"/>
            <a:ext cx="121098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Это аргументы, передаваемые в функцию, где каждому аргументу явно присваивается имя параметра в определении функции.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1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describe_pet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3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31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f"У меня есть 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3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3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по имени 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3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3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."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describe_pet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'хомяк'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US" sz="3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'Гарри'</a:t>
            </a:r>
            <a:r>
              <a:rPr lang="en-US" sz="3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9"/>
          <p:cNvSpPr txBox="1"/>
          <p:nvPr>
            <p:ph type="title"/>
          </p:nvPr>
        </p:nvSpPr>
        <p:spPr>
          <a:xfrm>
            <a:off x="2925276" y="136525"/>
            <a:ext cx="9266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Переменное количество аргументов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55" name="Google Shape;355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" name="Google Shape;356;p39"/>
          <p:cNvSpPr txBox="1"/>
          <p:nvPr>
            <p:ph idx="1" type="body"/>
          </p:nvPr>
        </p:nvSpPr>
        <p:spPr>
          <a:xfrm>
            <a:off x="184575" y="1711150"/>
            <a:ext cx="11905500" cy="48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С помощью *args и **kwargs можно передать в функцию переменное количество аргументов.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many_args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**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kwargs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3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  </a:t>
            </a:r>
            <a:r>
              <a:rPr i="1" lang="en-US" sz="3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кортеж аргументов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3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kwargs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i="1" lang="en-US" sz="3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словарь аргументов</a:t>
            </a:r>
            <a:endParaRPr i="1" sz="30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Использование *args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63" name="Google Shape;363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40"/>
          <p:cNvSpPr txBox="1"/>
          <p:nvPr>
            <p:ph idx="1" type="body"/>
          </p:nvPr>
        </p:nvSpPr>
        <p:spPr>
          <a:xfrm>
            <a:off x="184575" y="1711150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2"/>
                </a:solidFill>
              </a:rPr>
              <a:t>*args позволяет функции принимать любое количество позиционных аргументов.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Аргументы, переданные с *args, доступны внутри функции как кортеж. 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2"/>
                </a:solidFill>
              </a:rPr>
              <a:t>Функция </a:t>
            </a:r>
            <a:r>
              <a:rPr b="1" lang="en-US" sz="2600">
                <a:solidFill>
                  <a:schemeClr val="dk2"/>
                </a:solidFill>
              </a:rPr>
              <a:t>summa </a:t>
            </a:r>
            <a:r>
              <a:rPr lang="en-US" sz="2600">
                <a:solidFill>
                  <a:schemeClr val="dk2"/>
                </a:solidFill>
              </a:rPr>
              <a:t>может принимать </a:t>
            </a:r>
            <a:r>
              <a:rPr lang="en-US" sz="2600" u="sng">
                <a:solidFill>
                  <a:schemeClr val="dk2"/>
                </a:solidFill>
              </a:rPr>
              <a:t>любое количество</a:t>
            </a:r>
            <a:r>
              <a:rPr lang="en-US" sz="2600">
                <a:solidFill>
                  <a:schemeClr val="dk2"/>
                </a:solidFill>
              </a:rPr>
              <a:t> числовых аргументов и возвращает их сумму.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summa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summa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))  </a:t>
            </a: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Выводит: 10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Использование **kwargs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71" name="Google Shape;371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41"/>
          <p:cNvSpPr txBox="1"/>
          <p:nvPr>
            <p:ph idx="1" type="body"/>
          </p:nvPr>
        </p:nvSpPr>
        <p:spPr>
          <a:xfrm>
            <a:off x="184575" y="1711150"/>
            <a:ext cx="119055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2"/>
                </a:solidFill>
              </a:rPr>
              <a:t>**kwargs позволяет функции принимать произвольное количество именованных аргументов (аргументов с ключевыми словами).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2"/>
                </a:solidFill>
              </a:rPr>
              <a:t>Аргументы, переданные с **kwargs, доступны внутри функции как словарь.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greet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**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kwargs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kwargs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items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greet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"Марат"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greeting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"Привет"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Комбинация *args и **kwargs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1" type="body"/>
          </p:nvPr>
        </p:nvSpPr>
        <p:spPr>
          <a:xfrm>
            <a:off x="184575" y="1711150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Функции могут использовать и *args, и **kwargs одновременно, чтобы принимать любую комбинацию позиционных и именованных аргументов.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func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**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kwargs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"args:"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"kwargs:"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kwargs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func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 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 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3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Важные замечания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87" name="Google Shape;387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" name="Google Shape;388;p43"/>
          <p:cNvSpPr txBox="1"/>
          <p:nvPr>
            <p:ph idx="1" type="body"/>
          </p:nvPr>
        </p:nvSpPr>
        <p:spPr>
          <a:xfrm>
            <a:off x="184575" y="1711150"/>
            <a:ext cx="11905500" cy="5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*args и **kwargs — это просто соглашения.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Вместо args и kwargs можно использовать любые другие названия, главное — сохранить звёздочки * и **.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2"/>
                </a:solidFill>
              </a:rPr>
              <a:t>При использовании *args и **kwargs важно соблюдать порядок: сначала идут обычные аргументы, затем *args, и в конце **kwargs.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Пример без *args и **kwargs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95" name="Google Shape;395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6" name="Google Shape;396;p44"/>
          <p:cNvSpPr txBox="1"/>
          <p:nvPr>
            <p:ph idx="1" type="body"/>
          </p:nvPr>
        </p:nvSpPr>
        <p:spPr>
          <a:xfrm>
            <a:off x="184575" y="1711150"/>
            <a:ext cx="11905500" cy="49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example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numbers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**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details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3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"Numbers:"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numbers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3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"Details:"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details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3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Вызов функции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example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90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60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90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 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"Вика"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age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 </a:t>
            </a:r>
            <a:r>
              <a:rPr lang="en-US" sz="3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33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Область видимости переменных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03" name="Google Shape;403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4" name="Google Shape;404;p45"/>
          <p:cNvSpPr txBox="1"/>
          <p:nvPr>
            <p:ph idx="1" type="body"/>
          </p:nvPr>
        </p:nvSpPr>
        <p:spPr>
          <a:xfrm>
            <a:off x="174725" y="1975925"/>
            <a:ext cx="116568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Локальные переменные — это переменные, определенные внутри функции, доступны только в этой функции и не видны за ее пределами.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Глобальные переменные — это переменные, определенные вне </a:t>
            </a:r>
            <a:r>
              <a:rPr lang="en-US" sz="2600">
                <a:solidFill>
                  <a:schemeClr val="dk2"/>
                </a:solidFill>
              </a:rPr>
              <a:t>функций</a:t>
            </a:r>
            <a:r>
              <a:rPr lang="en-US" sz="2600">
                <a:solidFill>
                  <a:schemeClr val="dk2"/>
                </a:solidFill>
              </a:rPr>
              <a:t>, в основном коде программы, видны в любом месте в этой программе.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Область видимости переменных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11" name="Google Shape;411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p46"/>
          <p:cNvSpPr txBox="1"/>
          <p:nvPr>
            <p:ph idx="1" type="body"/>
          </p:nvPr>
        </p:nvSpPr>
        <p:spPr>
          <a:xfrm>
            <a:off x="174725" y="1975925"/>
            <a:ext cx="116568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"глобальная"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my_func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"локальная"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my_func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  </a:t>
            </a: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Выводит "локальная"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  </a:t>
            </a: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Выводит "глобальная"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Область видимости переменных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19" name="Google Shape;419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0" name="Google Shape;420;p47"/>
          <p:cNvSpPr txBox="1"/>
          <p:nvPr>
            <p:ph idx="1" type="body"/>
          </p:nvPr>
        </p:nvSpPr>
        <p:spPr>
          <a:xfrm>
            <a:off x="174725" y="1975925"/>
            <a:ext cx="116568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set_new_value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global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set_new_value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 </a:t>
            </a: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Выводит "5"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Анонимные (лямбда) функции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7" name="Google Shape;427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8" name="Google Shape;428;p48"/>
          <p:cNvSpPr txBox="1"/>
          <p:nvPr>
            <p:ph idx="1" type="body"/>
          </p:nvPr>
        </p:nvSpPr>
        <p:spPr>
          <a:xfrm>
            <a:off x="184575" y="1711150"/>
            <a:ext cx="11905500" cy="49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Лямбда-функция определяется с помощью ключевого слова lambda и имеет следующий синтаксис: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arguments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expression</a:t>
            </a:r>
            <a:endParaRPr sz="30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arguments — это список аргументов (как в обычной функции), а expression — выражение, которое возвращает лямбда-функция.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multiply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Лямбда-функция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35" name="Google Shape;435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6" name="Google Shape;436;p49"/>
          <p:cNvSpPr txBox="1"/>
          <p:nvPr>
            <p:ph idx="1" type="body"/>
          </p:nvPr>
        </p:nvSpPr>
        <p:spPr>
          <a:xfrm>
            <a:off x="184575" y="1711150"/>
            <a:ext cx="11905500" cy="49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Лямбда-функция может содержать только одно выражение и не может содержать блоки команд, включающие в себя множество выражений или операторы управления потоком выполнения (такие как if, for).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Лямбда-функции часто используются там, где требуются небольшие функции, но создание отдельной функции через def было бы излишним.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Умножение двух чисел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43" name="Google Shape;443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4" name="Google Shape;444;p50"/>
          <p:cNvSpPr txBox="1"/>
          <p:nvPr>
            <p:ph idx="1" type="body"/>
          </p:nvPr>
        </p:nvSpPr>
        <p:spPr>
          <a:xfrm>
            <a:off x="184575" y="2226875"/>
            <a:ext cx="11905500" cy="4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multiply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4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4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4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4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4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4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4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endParaRPr sz="40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4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multiply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4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4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4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Вывод: 30</a:t>
            </a:r>
            <a:endParaRPr i="1" sz="40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Максимальное из 2 чисел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51" name="Google Shape;451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2" name="Google Shape;452;p51"/>
          <p:cNvSpPr txBox="1"/>
          <p:nvPr>
            <p:ph idx="1" type="body"/>
          </p:nvPr>
        </p:nvSpPr>
        <p:spPr>
          <a:xfrm>
            <a:off x="184575" y="2226875"/>
            <a:ext cx="11905500" cy="4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max_num</a:t>
            </a:r>
            <a:r>
              <a:rPr lang="en-US" sz="3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7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7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-US" sz="3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3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 sz="3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3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3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7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3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3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7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-US" sz="3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 sz="3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7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-US" sz="3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endParaRPr sz="3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3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max_num</a:t>
            </a:r>
            <a:r>
              <a:rPr lang="en-US" sz="3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7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n-US" sz="3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7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r>
              <a:rPr lang="en-US" sz="3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))  </a:t>
            </a:r>
            <a:endParaRPr sz="3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7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7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Вывод: 6</a:t>
            </a:r>
            <a:endParaRPr sz="3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Определение четных чисел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59" name="Google Shape;459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0" name="Google Shape;460;p52"/>
          <p:cNvSpPr txBox="1"/>
          <p:nvPr>
            <p:ph idx="1" type="body"/>
          </p:nvPr>
        </p:nvSpPr>
        <p:spPr>
          <a:xfrm>
            <a:off x="184575" y="2226875"/>
            <a:ext cx="11905500" cy="4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is_even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4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4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4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4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4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%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4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4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4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sz="4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4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is_even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4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))  </a:t>
            </a:r>
            <a:endParaRPr sz="4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Вывод: True</a:t>
            </a:r>
            <a:endParaRPr i="1" sz="40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3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Преобразование строки в верхний регистр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67" name="Google Shape;467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8" name="Google Shape;468;p53"/>
          <p:cNvSpPr txBox="1"/>
          <p:nvPr>
            <p:ph idx="1" type="body"/>
          </p:nvPr>
        </p:nvSpPr>
        <p:spPr>
          <a:xfrm>
            <a:off x="184575" y="2226875"/>
            <a:ext cx="11905500" cy="4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to_upper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4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4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4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4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4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upper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4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4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to_upper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4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"apple"</a:t>
            </a:r>
            <a:r>
              <a:rPr lang="en-US" sz="4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))  </a:t>
            </a:r>
            <a:endParaRPr sz="4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Вывод: APPLE</a:t>
            </a:r>
            <a:endParaRPr i="1" sz="40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4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Получение первого элемента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75" name="Google Shape;475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6" name="Google Shape;476;p54"/>
          <p:cNvSpPr txBox="1"/>
          <p:nvPr>
            <p:ph idx="1" type="body"/>
          </p:nvPr>
        </p:nvSpPr>
        <p:spPr>
          <a:xfrm>
            <a:off x="184575" y="2226875"/>
            <a:ext cx="11905500" cy="4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first_item</a:t>
            </a:r>
            <a:r>
              <a:rPr lang="en-US" sz="3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5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5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-US" sz="3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5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</a:t>
            </a:r>
            <a:r>
              <a:rPr lang="en-US" sz="3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35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</a:t>
            </a:r>
            <a:r>
              <a:rPr lang="en-US" sz="3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-US" sz="35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US" sz="3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b="1" lang="en-US" sz="35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3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5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</a:t>
            </a:r>
            <a:r>
              <a:rPr lang="en-US" sz="3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5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-US" sz="3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5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endParaRPr sz="35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3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5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first_item</a:t>
            </a:r>
            <a:r>
              <a:rPr lang="en-US" sz="3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5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"apple"</a:t>
            </a:r>
            <a:r>
              <a:rPr lang="en-US" sz="3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))  </a:t>
            </a:r>
            <a:endParaRPr sz="35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5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Вывод: a</a:t>
            </a:r>
            <a:endParaRPr sz="35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docstrings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83" name="Google Shape;483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4" name="Google Shape;484;p55"/>
          <p:cNvSpPr txBox="1"/>
          <p:nvPr>
            <p:ph idx="1" type="body"/>
          </p:nvPr>
        </p:nvSpPr>
        <p:spPr>
          <a:xfrm>
            <a:off x="184575" y="1711150"/>
            <a:ext cx="11656800" cy="50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В Python строка документации — это многострочный комментарий, помещаемый в начале функции для описания её назначения и поведения.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Docstrings являются важным элементом "самодокументированного" кода и играют ключевую роль в создании понятного, легко поддерживаемого программного обеспечения.</a:t>
            </a:r>
            <a:endParaRPr sz="3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Синтаксис </a:t>
            </a:r>
            <a:r>
              <a:rPr lang="en-US">
                <a:solidFill>
                  <a:schemeClr val="dk2"/>
                </a:solidFill>
              </a:rPr>
              <a:t>docstrings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91" name="Google Shape;491;p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2" name="Google Shape;492;p56"/>
          <p:cNvSpPr txBox="1"/>
          <p:nvPr>
            <p:ph idx="1" type="body"/>
          </p:nvPr>
        </p:nvSpPr>
        <p:spPr>
          <a:xfrm>
            <a:off x="184575" y="1711150"/>
            <a:ext cx="11656800" cy="48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</a:rPr>
              <a:t>Docstrings оформляются как обычные строки, но обрамляются тройными кавычками. Это</a:t>
            </a:r>
            <a:r>
              <a:rPr lang="en-US" sz="2800">
                <a:solidFill>
                  <a:schemeClr val="dk2"/>
                </a:solidFill>
              </a:rPr>
              <a:t> поз</a:t>
            </a:r>
            <a:r>
              <a:rPr lang="en-US" sz="2800">
                <a:solidFill>
                  <a:schemeClr val="dk2"/>
                </a:solidFill>
              </a:rPr>
              <a:t>воляет располагать текст на нескольких строках.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3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n-US" sz="3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():</a:t>
            </a:r>
            <a:endParaRPr sz="3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3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"""</a:t>
            </a:r>
            <a:endParaRPr sz="3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Это описание функции.</a:t>
            </a:r>
            <a:endParaRPr sz="3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Оно описывает, что делает функция.</a:t>
            </a:r>
            <a:endParaRPr sz="3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"""</a:t>
            </a:r>
            <a:endParaRPr sz="3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sz="2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Правила </a:t>
            </a:r>
            <a:r>
              <a:rPr lang="en-US">
                <a:solidFill>
                  <a:schemeClr val="dk2"/>
                </a:solidFill>
              </a:rPr>
              <a:t>docstrings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99" name="Google Shape;499;p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0" name="Google Shape;500;p57"/>
          <p:cNvSpPr txBox="1"/>
          <p:nvPr>
            <p:ph idx="1" type="body"/>
          </p:nvPr>
        </p:nvSpPr>
        <p:spPr>
          <a:xfrm>
            <a:off x="184575" y="1711150"/>
            <a:ext cx="116568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Docstrings пишутся с заглавной буквы, </a:t>
            </a:r>
            <a:r>
              <a:rPr lang="en-US" sz="2600">
                <a:solidFill>
                  <a:schemeClr val="dk2"/>
                </a:solidFill>
              </a:rPr>
              <a:t>оканчиваются</a:t>
            </a:r>
            <a:r>
              <a:rPr lang="en-US" sz="2600">
                <a:solidFill>
                  <a:schemeClr val="dk2"/>
                </a:solidFill>
              </a:rPr>
              <a:t> точкой.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Описание действия функции приводится в настоящем времени.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Docstrings могут использоваться различными инструментами для автоматической генерации документации (например, Sphinx).</a:t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Стандарты </a:t>
            </a:r>
            <a:r>
              <a:rPr lang="en-US">
                <a:solidFill>
                  <a:schemeClr val="dk2"/>
                </a:solidFill>
              </a:rPr>
              <a:t>docstrings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07" name="Google Shape;507;p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8" name="Google Shape;508;p58"/>
          <p:cNvSpPr txBox="1"/>
          <p:nvPr>
            <p:ph idx="1" type="body"/>
          </p:nvPr>
        </p:nvSpPr>
        <p:spPr>
          <a:xfrm>
            <a:off x="184575" y="1711150"/>
            <a:ext cx="116568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Для более сложных docstrings можно использовать специальные форматы, такие как reStructuredText или Google docstrings. 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Эти форматы поддерживают добавление разделов: "Аргументы", "Возвращает", "Примеры" и другие.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Выбор между reStructuredText (reST) и Google docstrings во многом зависит от предпочтений разработчика, используемых инструментов                                           и стандартов проекта.</a:t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Пример с reStructuredText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15" name="Google Shape;515;p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6" name="Google Shape;516;p59"/>
          <p:cNvSpPr txBox="1"/>
          <p:nvPr>
            <p:ph idx="1" type="body"/>
          </p:nvPr>
        </p:nvSpPr>
        <p:spPr>
          <a:xfrm>
            <a:off x="184575" y="1711150"/>
            <a:ext cx="116568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1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9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add_numbers</a:t>
            </a:r>
            <a:r>
              <a:rPr lang="en-US" sz="1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-US" sz="1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1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n-US" sz="1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1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1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"""</a:t>
            </a:r>
            <a:endParaRPr sz="1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Складывает два числа и возвращает результат.</a:t>
            </a:r>
            <a:endParaRPr sz="1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:param a: Первое слагаемое, должно быть числом.</a:t>
            </a:r>
            <a:endParaRPr sz="1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:type a: int or float</a:t>
            </a:r>
            <a:endParaRPr sz="1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:param b: Второе слагаемое, должно быть числом.</a:t>
            </a:r>
            <a:endParaRPr sz="1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:type b: int or float</a:t>
            </a:r>
            <a:endParaRPr sz="1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:returns: Сумма `a` и `b`.</a:t>
            </a:r>
            <a:endParaRPr sz="1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:rtype: int or float</a:t>
            </a:r>
            <a:endParaRPr sz="1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:Example:</a:t>
            </a:r>
            <a:endParaRPr sz="1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&gt;&gt;&gt; add_numbers(10, 20)</a:t>
            </a:r>
            <a:endParaRPr sz="1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30</a:t>
            </a:r>
            <a:endParaRPr sz="1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"""</a:t>
            </a:r>
            <a:endParaRPr sz="1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1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1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-US" sz="1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 sz="1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endParaRPr sz="19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Пример с Google docstrings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23" name="Google Shape;523;p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4" name="Google Shape;524;p60"/>
          <p:cNvSpPr txBox="1"/>
          <p:nvPr>
            <p:ph idx="1" type="body"/>
          </p:nvPr>
        </p:nvSpPr>
        <p:spPr>
          <a:xfrm>
            <a:off x="184575" y="1711150"/>
            <a:ext cx="116568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0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add_numbers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"""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Складывает два числа и возвращает результат.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Args: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    a (int or float): Первое слагаемое.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    b (int or float): Второе слагаемое.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Returns: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    int or float: Сумма `a` и `b`.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Example: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    &gt;&gt;&gt; add_numbers(10, 20)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    30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"""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1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531" name="Google Shape;531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