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Gill San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F45455-40BC-48C4-B0D7-F89056CD3899}">
  <a:tblStyle styleId="{9DF45455-40BC-48C4-B0D7-F89056CD38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ill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39d1a30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39d1a30f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602f32ec8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602f32e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602f32ec8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425927ac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a425927a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425927ac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602f32ec8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602f32e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602f32ec8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602f32ec8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a602f32ec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602f32ec8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602f32ec8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a602f32ec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602f32ec8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602f32ec8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a602f32ec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a602f32ec8_0_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602f32ec8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a602f32ec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a602f32ec8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602f32ec8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a602f32ec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2a602f32ec8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Условный оператор if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Ветвление в Python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284500" y="1876275"/>
            <a:ext cx="87882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Ветвление в Python – это механизм, который позволяет программе принимать решения на основе выполнения условий.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Он используется для выполнения определенных действий в зависимости от истинности или ложности определенных утверждений.</a:t>
            </a:r>
            <a:endParaRPr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Опеартор if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284500" y="1876275"/>
            <a:ext cx="87882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Ключевыми инструментами ветвления в Python являются конструкции if, elif (сокращение от "else if") и else.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if используется для начала условия,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elif – для добавления дополнительных условий, а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else – для задания действий по умолчанию, если ни одно из условий не </a:t>
            </a:r>
            <a:r>
              <a:rPr lang="en-US"/>
              <a:t>выполняется</a:t>
            </a:r>
            <a:r>
              <a:rPr lang="en-US"/>
              <a:t>.</a:t>
            </a:r>
            <a:endParaRPr/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1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 = input("Введите число: 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 = int(n)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if n &gt; 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print("Число положительное")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2</a:t>
            </a:r>
            <a:endParaRPr/>
          </a:p>
        </p:txBody>
      </p:sp>
      <p:sp>
        <p:nvSpPr>
          <p:cNvPr id="267" name="Google Shape;267;p28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 = int(input("Введите число: "))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if n &lt; 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print("Число отрицательное")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3</a:t>
            </a:r>
            <a:endParaRPr/>
          </a:p>
        </p:txBody>
      </p:sp>
      <p:sp>
        <p:nvSpPr>
          <p:cNvPr id="275" name="Google Shape;275;p29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 = int(input("Введите число: "))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if n &gt; 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print("Число положительное")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print("Число отрицательное")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6" name="Google Shape;276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4</a:t>
            </a:r>
            <a:endParaRPr/>
          </a:p>
        </p:txBody>
      </p:sp>
      <p:sp>
        <p:nvSpPr>
          <p:cNvPr id="283" name="Google Shape;283;p30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en-US" sz="3005">
                <a:latin typeface="Courier New"/>
                <a:ea typeface="Courier New"/>
                <a:cs typeface="Courier New"/>
                <a:sym typeface="Courier New"/>
              </a:rPr>
              <a:t>n = int(input("Введите число: "))</a:t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3005">
                <a:latin typeface="Courier New"/>
                <a:ea typeface="Courier New"/>
                <a:cs typeface="Courier New"/>
                <a:sym typeface="Courier New"/>
              </a:rPr>
              <a:t>if n &gt; 0:</a:t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3005">
                <a:latin typeface="Courier New"/>
                <a:ea typeface="Courier New"/>
                <a:cs typeface="Courier New"/>
                <a:sym typeface="Courier New"/>
              </a:rPr>
              <a:t>    print("Число положительное")</a:t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3005">
                <a:latin typeface="Courier New"/>
                <a:ea typeface="Courier New"/>
                <a:cs typeface="Courier New"/>
                <a:sym typeface="Courier New"/>
              </a:rPr>
              <a:t>elif n &lt; 0:</a:t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3005">
                <a:latin typeface="Courier New"/>
                <a:ea typeface="Courier New"/>
                <a:cs typeface="Courier New"/>
                <a:sym typeface="Courier New"/>
              </a:rPr>
              <a:t>    print("Число отрицательное")</a:t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3005"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3005"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lang="en-US" sz="3005">
                <a:latin typeface="Courier New"/>
                <a:ea typeface="Courier New"/>
                <a:cs typeface="Courier New"/>
                <a:sym typeface="Courier New"/>
              </a:rPr>
              <a:t>print("Число ноль")</a:t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3005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4" name="Google Shape;284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5</a:t>
            </a:r>
            <a:endParaRPr/>
          </a:p>
        </p:txBody>
      </p:sp>
      <p:sp>
        <p:nvSpPr>
          <p:cNvPr id="291" name="Google Shape;291;p31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n = int(input("Введите число: "))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if n % 2 == 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print(f"Число {n} является четным.")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print(f"Число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{n} </a:t>
            </a: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является нечетным.")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6</a:t>
            </a:r>
            <a:endParaRPr/>
          </a:p>
        </p:txBody>
      </p:sp>
      <p:sp>
        <p:nvSpPr>
          <p:cNvPr id="299" name="Google Shape;299;p32"/>
          <p:cNvSpPr txBox="1"/>
          <p:nvPr>
            <p:ph idx="1" type="body"/>
          </p:nvPr>
        </p:nvSpPr>
        <p:spPr>
          <a:xfrm>
            <a:off x="106850" y="2060850"/>
            <a:ext cx="120063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age = int(input("Введите ваш возраст: "))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if age &lt; 18: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print("Вы несовершеннолетний.")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elif 18 &lt;= age &lt; 70: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print("Вы взрослый.")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Courier New"/>
                <a:ea typeface="Courier New"/>
                <a:cs typeface="Courier New"/>
                <a:sym typeface="Courier New"/>
              </a:rPr>
              <a:t>    print("Вы пожилой человек.")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Пример 7</a:t>
            </a:r>
            <a:endParaRPr/>
          </a:p>
        </p:txBody>
      </p:sp>
      <p:sp>
        <p:nvSpPr>
          <p:cNvPr id="307" name="Google Shape;307;p33"/>
          <p:cNvSpPr txBox="1"/>
          <p:nvPr>
            <p:ph idx="1" type="body"/>
          </p:nvPr>
        </p:nvSpPr>
        <p:spPr>
          <a:xfrm>
            <a:off x="106850" y="1557350"/>
            <a:ext cx="12006300" cy="530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s = input("Введите время года (лето, осень, зима, весна): ")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if s == "лето":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    print("Отличное время для отдыха на пляже!")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elif s == "осень":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    print("</a:t>
            </a: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Прекрасное время для прогулок</a:t>
            </a: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.")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elif s == "зима":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    print("Замечательное время для катания на лыжах.")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elif s == "весна":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    print("Время пробуждения природы.")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-US" sz="2420">
                <a:latin typeface="Courier New"/>
                <a:ea typeface="Courier New"/>
                <a:cs typeface="Courier New"/>
                <a:sym typeface="Courier New"/>
              </a:rPr>
              <a:t>    print("Вы ввели не время года.")</a:t>
            </a:r>
            <a:endParaRPr sz="242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" name="Google Shape;308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315" name="Google Shape;315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322" name="Google Shape;322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23" name="Google Shape;323;p35"/>
          <p:cNvGraphicFramePr/>
          <p:nvPr/>
        </p:nvGraphicFramePr>
        <p:xfrm>
          <a:off x="3352325" y="15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{9DF45455-40BC-48C4-B0D7-F89056CD3899}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дом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ввод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ошибка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новый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поделиться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копировать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folder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папка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