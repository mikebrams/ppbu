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Gill Sans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F7D8CD-E6A2-4E8C-84A0-7BA63E16F875}">
  <a:tblStyle styleId="{6FF7D8CD-E6A2-4E8C-84A0-7BA63E16F8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illSa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Gill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минут. представьтесь, расскажите о себе. Когда вы начали изучать программирование.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почему оно вам нравится. Какая перспектива у тех, кто знает программирование.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Какие профессии требуют знание питона</a:t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38a5c8b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a38a5c8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минуты. Сказать что важные моменты лучше записывать в тетрадь, чтобы они были под рукой.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иногда быстрее чем пересматривать лекцию</a:t>
            </a:r>
            <a:endParaRPr/>
          </a:p>
        </p:txBody>
      </p:sp>
      <p:sp>
        <p:nvSpPr>
          <p:cNvPr id="247" name="Google Shape;247;g2a38a5c8b6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a39d1a30f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2a39d1a30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как программируется бытовая техника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 что это делается без языков программирования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Задать вопросы что еще можно прогать и как.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Указать что без языка устройство может выполнять только некоторые функции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Комп может делать гораздо больше функций, поэтому прогается с помощью языка программирования.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2a39d1a30f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a39d1a30fc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a39d1a30f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какие ранее были компьютеры.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Задать вопрос кто когда познакомился с компом.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Спросить что они делают за компом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прикольные игры и полезные программы</a:t>
            </a:r>
            <a:endParaRPr/>
          </a:p>
        </p:txBody>
      </p:sp>
      <p:sp>
        <p:nvSpPr>
          <p:cNvPr id="263" name="Google Shape;263;g2a39d1a30fc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39d1a30f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39d1a30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из чего состоят компы.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про каждый элемент компа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было у старых компов (дискеты)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 сейчас на смену HDD приходят SSD и в чем у них отличие</a:t>
            </a:r>
            <a:endParaRPr/>
          </a:p>
        </p:txBody>
      </p:sp>
      <p:sp>
        <p:nvSpPr>
          <p:cNvPr id="272" name="Google Shape;272;g2a39d1a30fc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39d1a30fc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39d1a30f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рассказать о скорости работы оперативки, жесткого диска и кеша процессора.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что в процессоре 3 уровня кеша и каждый работает быстрее другого.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что у процессора много ножек и они позолоченные.</a:t>
            </a:r>
            <a:endParaRPr/>
          </a:p>
        </p:txBody>
      </p:sp>
      <p:sp>
        <p:nvSpPr>
          <p:cNvPr id="280" name="Google Shape;280;g2a39d1a30fc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3d54f7398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2a3d54f739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 обсудить, что эта программа понятна компу, но совершенно непонятна человеку.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Первые компы так и программировались с помощью 1 и 0 и </a:t>
            </a:r>
            <a:r>
              <a:rPr lang="en-US"/>
              <a:t>перфокарт</a:t>
            </a:r>
            <a:r>
              <a:rPr lang="en-US"/>
              <a:t>. Где отверстие – это 0, а если нет отверстия – 1.</a:t>
            </a:r>
            <a:endParaRPr/>
          </a:p>
        </p:txBody>
      </p:sp>
      <p:sp>
        <p:nvSpPr>
          <p:cNvPr id="289" name="Google Shape;289;g2a3d54f7398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3d54f7398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a3d54f739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r>
              <a:rPr lang="en-US"/>
              <a:t> минут обсудить как прикольно было прогать перфокарты.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как исправлять ошибку в коде на перфокарте (никак)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что такое 1 бит информации (одно отверстие)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что такое Байт информации (8 бит)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Посчитать сколько байт содержит эта перфокарта (я насчитал 80)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Обратить внимание что нумерация чисел в 1 байте начинается с нуля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Вернуться в прошлому слайду и подсчитать сколько байт занимает прога, которая пишет Hello, world! (32 байта)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Спросить влезет ли такая прога на 1 перфокарту?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сколько времени займет создание такой проги? (наверное 10 или 15 минут)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2a3d54f7398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38a5c8b6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2a38a5c8b6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 обсудить ассемблер.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Те, кто знаком с английским могут увидеть знакомые слова push – толкать, call – вызывать, mov похоже на move – передвинуть, add – сложить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Такая программа понятнее для человека чем прошлая, так как уже есть что-то похожее на понятные слова.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 такую программу не поймет процессор. Чтобы перекодировать эту программу в машинный код нужен Компилятор.</a:t>
            </a:r>
            <a:endParaRPr/>
          </a:p>
        </p:txBody>
      </p:sp>
      <p:sp>
        <p:nvSpPr>
          <p:cNvPr id="305" name="Google Shape;305;g2a38a5c8b63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3d54f739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a3d54f73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минуты. Рассказать что у каждого языка программирования свой собственный компилятор.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a3d54f739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3d54f7398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3d54f73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минуты. Рассказать что у каждого языка программирования свой собственный компилятор.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a3d54f7398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минуты. Рассказать что интерпретаторы работают медленнее чем скомпилированные программы.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 язык Питон часто ругали за то, что он медленный. Но недавно все изменилось.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3d54f7398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a3d54f73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r>
              <a:rPr lang="en-US"/>
              <a:t> минут обсудить что Питон избавился от важного недостатка.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в каких случаях важна </a:t>
            </a:r>
            <a:r>
              <a:rPr lang="en-US"/>
              <a:t>скорость</a:t>
            </a:r>
            <a:r>
              <a:rPr lang="en-US"/>
              <a:t> работы программы, а в каких не очень.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Важна там, где от этого зависит жизнь, здоровье и финансы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Например</a:t>
            </a:r>
            <a:r>
              <a:rPr lang="en-US"/>
              <a:t> при вызове МЧС по 112 скорость работы смартфона очень важна.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важна там, где скорость не требуется. Например, при работе калькулятора. Ничего не случится, если он даст ответ не за 1 секунду, а за 5 секунд.</a:t>
            </a:r>
            <a:endParaRPr/>
          </a:p>
        </p:txBody>
      </p:sp>
      <p:sp>
        <p:nvSpPr>
          <p:cNvPr id="336" name="Google Shape;336;g2a3d54f7398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39d1a30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a39d1a3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что программа на питоне очень понятная, так как в ней используются английские слова.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 – печатать. И программа напечатает на экране то, что указано в скобках.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важность английского языка.Сказать что на этом курсе надо будет выучить около 100 новых английских слов.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a39d1a30f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395b176b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2a395b176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минуты. Показать что все языки программирования состоят из английских слов.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console – консоль для вывода информации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– эхо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 – печать как и в питоне.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Обратите внимание, что синтаксис (написание кода) в некоторых языках очень похоже.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Но не смотря на это все языки программирования созданы для разных целей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a395b176bd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3d54f7398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a3d54f739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минута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2a3d54f7398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3d54f7398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a3d54f739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/>
              <a:t> минута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a3d54f7398_0_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3d54f7398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a3d54f739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минута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2a3d54f7398_0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a3d54f7398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a3d54f73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минута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a3d54f7398_0_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3d54f7398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a3d54f739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минуты. Посмотрите – </a:t>
            </a:r>
            <a:r>
              <a:rPr lang="en-US"/>
              <a:t>много английских</a:t>
            </a:r>
            <a:r>
              <a:rPr lang="en-US"/>
              <a:t> слов, которые управляют </a:t>
            </a:r>
            <a:r>
              <a:rPr lang="en-US"/>
              <a:t>компьютером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 несколько русских слов, которые будут выведены на экран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- означает ввод. Число будет введено с клавиатуры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float - означает плавающий. Число будет преобразована в формат для </a:t>
            </a:r>
            <a:r>
              <a:rPr lang="en-US"/>
              <a:t>вычислений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 - это сокращение от number (число)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плюс означает сложение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равно означает сохранение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 означает результат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 вы уже знаете.</a:t>
            </a:r>
            <a:endParaRPr/>
          </a:p>
        </p:txBody>
      </p:sp>
      <p:sp>
        <p:nvSpPr>
          <p:cNvPr id="392" name="Google Shape;392;g2a3d54f7398_0_1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a3d54f7398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a3d54f739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 обсудить как работает проект</a:t>
            </a:r>
            <a:endParaRPr/>
          </a:p>
        </p:txBody>
      </p:sp>
      <p:sp>
        <p:nvSpPr>
          <p:cNvPr id="400" name="Google Shape;400;g2a3d54f7398_0_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r>
              <a:rPr lang="en-US"/>
              <a:t>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3d54f7398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2a3d54f73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мин. Обсудить порядок учебы.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ответы на вопросы.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2a3d54f7398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3d54f7398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a3d54f739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минута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2a3d54f7398_0_1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/>
              <a:t>Знакомство с программированием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3857698" y="2628525"/>
            <a:ext cx="44766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 sz="9600"/>
              <a:t>Привет!</a:t>
            </a:r>
            <a:endParaRPr sz="9600"/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Программирование</a:t>
            </a:r>
            <a:endParaRPr/>
          </a:p>
        </p:txBody>
      </p:sp>
      <p:sp>
        <p:nvSpPr>
          <p:cNvPr id="250" name="Google Shape;250;p26"/>
          <p:cNvSpPr txBox="1"/>
          <p:nvPr>
            <p:ph idx="1" type="body"/>
          </p:nvPr>
        </p:nvSpPr>
        <p:spPr>
          <a:xfrm>
            <a:off x="838200" y="1915123"/>
            <a:ext cx="10515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Программирование — это процесс создания набора инструкций, которые компьютер может понять и выполнить. Оно включает в себя написание кода с использованием языка программирования для выполнения компьютером определенных действий.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Программирование позволяет создавать программы, приложения и системы, автоматизировать процессы и разрабатывать новые технологии.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Что можно программировать?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9" name="Google Shape;2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275" y="1629675"/>
            <a:ext cx="44481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Что такое компьютер?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6" name="Google Shape;266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330275" y="1915125"/>
            <a:ext cx="114786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ГОСУДАРСТВЕННЫЙ СТАНДАРТ СОЮЗА ССР от 01 января 1992 говорит что: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ЭВМ (Electronic computer) — Вычислительная машина, основные функциональные устройства которой выполнены на электронных компонентах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268" name="Google Shape;268;p28"/>
          <p:cNvPicPr preferRelativeResize="0"/>
          <p:nvPr/>
        </p:nvPicPr>
        <p:blipFill rotWithShape="1">
          <a:blip r:embed="rId3">
            <a:alphaModFix/>
          </a:blip>
          <a:srcRect b="9461" l="0" r="0" t="0"/>
          <a:stretch/>
        </p:blipFill>
        <p:spPr>
          <a:xfrm>
            <a:off x="4127475" y="3411525"/>
            <a:ext cx="3381600" cy="32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Из чего состоит ЭВМ?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1. Центральный процессор (CPU): Выполняет основные вычисления и обрабатывает команды.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2. Оперативная память (RAM): Хранит временные данные и программы, к которым процессор имеет быстрый доступ.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3. Жесткий диск (или SSD): Используется для долгосрочного хранения данных, таких как фотки котиков.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4. Материнская плата: Обеспечивает связь между всеми компонентами компьютера.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5. Видеокарта: Отвечает за вывод изображения на монитор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Где находится программа?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213700" y="17208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Созданная программа хранится на жестком диске </a:t>
            </a:r>
            <a:r>
              <a:rPr lang="en-US" sz="2400">
                <a:solidFill>
                  <a:schemeClr val="dk2"/>
                </a:solidFill>
              </a:rPr>
              <a:t>(HDD или SSD)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При запуске программа копируется в оперативную память </a:t>
            </a:r>
            <a:r>
              <a:rPr lang="en-US" sz="2400">
                <a:solidFill>
                  <a:schemeClr val="dk2"/>
                </a:solidFill>
              </a:rPr>
              <a:t>(RAM)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Процессор считывает программу из оперативной памяти себе в кеш и выполняет ее.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638" y="3448875"/>
            <a:ext cx="4592916" cy="3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Как выглядит</a:t>
            </a:r>
            <a:r>
              <a:rPr lang="en-US">
                <a:solidFill>
                  <a:schemeClr val="dk2"/>
                </a:solidFill>
              </a:rPr>
              <a:t> программа?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213700" y="1720850"/>
            <a:ext cx="116568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Это текст программы в двоичном коде, который может исполнить процессор.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Программа выведет на экран “Hello, world!”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01010101 10001001 11100101 11101000 11111100 11111111 11111111 11111111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10000011 11111000 01000001 01110101 00001101 01101000 00000000 00000000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00000000 11101000 11111100 11111111 11111111 10000011 11000100 00000100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10111000 00000000 00000000 00000000 10001001 11101100 01011101 11000011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</a:t>
            </a:r>
            <a:r>
              <a:rPr lang="en-US">
                <a:solidFill>
                  <a:schemeClr val="dk2"/>
                </a:solidFill>
              </a:rPr>
              <a:t>ерфокарта из 1985 года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1" name="Google Shape;3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1125"/>
            <a:ext cx="11597322" cy="53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Программа на ассемблере</a:t>
            </a:r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4303050" y="1557350"/>
            <a:ext cx="3243300" cy="48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push %ebp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mov %esp,%ebp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call 0x8048298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cmp $0x41,%eax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jne 0x80483ce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push $0x80484b0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call 0x80482c8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add $0x4,%esp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mov $0x0,%eax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mov %ebp,%esp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pop %ebp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Компилятор</a:t>
            </a:r>
            <a:endParaRPr/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Компилятор превращает код, написанный на языке программирования, в машинный код.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push %ebp  =  01010101 10001001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838200" y="2435124"/>
            <a:ext cx="10515600" cy="159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/>
              <a:t>Перерыв 5 минут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Интерпретатор</a:t>
            </a:r>
            <a:endParaRPr/>
          </a:p>
        </p:txBody>
      </p:sp>
      <p:sp>
        <p:nvSpPr>
          <p:cNvPr id="331" name="Google Shape;331;p36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Интерпретатор превращает в машинный код не всю программу сразу, а построчно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Программы на Python часто запускают с помощью интерпретатора.</a:t>
            </a:r>
            <a:endParaRPr/>
          </a:p>
        </p:txBody>
      </p:sp>
      <p:sp>
        <p:nvSpPr>
          <p:cNvPr id="332" name="Google Shape;332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Новый компилятор!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0" name="Google Shape;3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" y="1426650"/>
            <a:ext cx="10865666" cy="4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Программа на Python</a:t>
            </a:r>
            <a:endParaRPr/>
          </a:p>
        </p:txBody>
      </p:sp>
      <p:sp>
        <p:nvSpPr>
          <p:cNvPr id="347" name="Google Shape;347;p38"/>
          <p:cNvSpPr txBox="1"/>
          <p:nvPr>
            <p:ph idx="1" type="body"/>
          </p:nvPr>
        </p:nvSpPr>
        <p:spPr>
          <a:xfrm>
            <a:off x="838200" y="1915123"/>
            <a:ext cx="10515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print("Hello, world!")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читается как ПАЙТОН</a:t>
            </a:r>
            <a:endParaRPr/>
          </a:p>
        </p:txBody>
      </p:sp>
      <p:sp>
        <p:nvSpPr>
          <p:cNvPr id="348" name="Google Shape;348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Сравнение языков</a:t>
            </a:r>
            <a:endParaRPr/>
          </a:p>
        </p:txBody>
      </p:sp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481025" y="2060850"/>
            <a:ext cx="11279100" cy="456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console.log("Hello, world!");  JavaScript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"Hello, world!";          PHP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print("Hello, world!")         Swift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JavaScript</a:t>
            </a:r>
            <a:endParaRPr/>
          </a:p>
        </p:txBody>
      </p:sp>
      <p:sp>
        <p:nvSpPr>
          <p:cNvPr id="363" name="Google Shape;363;p40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Язык для работы в браузере, используется для создания интерактивных элементов на веб-страницах.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Использование: Веб-разработка, создание веб-приложений и разработка серверных приложений.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PHP</a:t>
            </a:r>
            <a:endParaRPr/>
          </a:p>
        </p:txBody>
      </p:sp>
      <p:sp>
        <p:nvSpPr>
          <p:cNvPr id="371" name="Google Shape;371;p41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Используется для создания динамических веб-страниц и взаимодействия с базами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Использование: Веб-разработка, создание сайтов и веб-приложений.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Swift</a:t>
            </a:r>
            <a:endParaRPr/>
          </a:p>
        </p:txBody>
      </p:sp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Разработан Apple, простой и безопасный язык для iOS-приложений.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Использование: Разработка мобильных приложений для устройств Apple.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Python</a:t>
            </a:r>
            <a:endParaRPr/>
          </a:p>
        </p:txBody>
      </p:sp>
      <p:sp>
        <p:nvSpPr>
          <p:cNvPr id="387" name="Google Shape;387;p43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Простой в изучении, имеет чистый и понятный синтаксис.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Использование: Широко применяется в веб-разработке, научных вычислениях, анализе данных и автоматизации.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Пример программы на Python</a:t>
            </a:r>
            <a:endParaRPr/>
          </a:p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838200" y="2060848"/>
            <a:ext cx="105156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# Вводим три числа с клавиатуры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num1 = float(input("Введите первое число: "))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num2 = float(input("Введите второе число: "))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num3 = float(input("Введите третье число: "))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# Складываем числа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result = num1 + num2 + num3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# Выводим результат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510">
                <a:latin typeface="Courier New"/>
                <a:ea typeface="Courier New"/>
                <a:cs typeface="Courier New"/>
                <a:sym typeface="Courier New"/>
              </a:rPr>
              <a:t>print(f"Сумма трех чисел: {result}")</a:t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251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6" name="Google Shape;396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Тестируем программу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3" name="Google Shape;403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4" name="Google Shape;4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325" y="1421125"/>
            <a:ext cx="8996084" cy="53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411" name="Google Shape;411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2" name="Google Shape;412;p46"/>
          <p:cNvGraphicFramePr/>
          <p:nvPr/>
        </p:nvGraphicFramePr>
        <p:xfrm>
          <a:off x="4508275" y="16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{6FF7D8CD-E6A2-4E8C-84A0-7BA63E16F875}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печать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число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яблоко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питон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push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толкать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бежать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Порядок прохождения курса</a:t>
            </a:r>
            <a:endParaRPr/>
          </a:p>
        </p:txBody>
      </p:sp>
      <p:sp>
        <p:nvSpPr>
          <p:cNvPr id="419" name="Google Shape;419;p47"/>
          <p:cNvSpPr txBox="1"/>
          <p:nvPr>
            <p:ph idx="1" type="body"/>
          </p:nvPr>
        </p:nvSpPr>
        <p:spPr>
          <a:xfrm>
            <a:off x="838200" y="1915123"/>
            <a:ext cx="10515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Каждую неделю будут лекции и практические занятия.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Надо ежедневно выполнять задания.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В конце каждой недели нужно сдавать проект.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Важные моменты во время лекций и семинаров следует записывать в тетрадь.</a:t>
            </a:r>
            <a:endParaRPr sz="3000"/>
          </a:p>
        </p:txBody>
      </p:sp>
      <p:sp>
        <p:nvSpPr>
          <p:cNvPr id="420" name="Google Shape;420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idx="1" type="body"/>
          </p:nvPr>
        </p:nvSpPr>
        <p:spPr>
          <a:xfrm>
            <a:off x="558000" y="2169500"/>
            <a:ext cx="110760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en-US" sz="9600"/>
              <a:t>Задавайте вопросы!</a:t>
            </a:r>
            <a:endParaRPr sz="9600"/>
          </a:p>
        </p:txBody>
      </p:sp>
      <p:sp>
        <p:nvSpPr>
          <p:cNvPr id="427" name="Google Shape;427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4" name="Google Shape;43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