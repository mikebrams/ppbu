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Roboto Mono"/>
      <p:regular r:id="rId12"/>
      <p:bold r:id="rId13"/>
      <p:italic r:id="rId14"/>
      <p:boldItalic r:id="rId15"/>
    </p:embeddedFont>
    <p:embeddedFont>
      <p:font typeface="Gill Sans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bold.fntdata"/><Relationship Id="rId12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Italic.fntdata"/><Relationship Id="rId14" Type="http://schemas.openxmlformats.org/officeDocument/2006/relationships/font" Target="fonts/RobotoMono-italic.fntdata"/><Relationship Id="rId17" Type="http://schemas.openxmlformats.org/officeDocument/2006/relationships/font" Target="fonts/GillSans-bold.fntdata"/><Relationship Id="rId16" Type="http://schemas.openxmlformats.org/officeDocument/2006/relationships/font" Target="fonts/Gill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998c6eb6b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a998c6eb6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2a998c6eb6b_0_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9da88de3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2a9da88de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g2a9da88de35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a9e5de48a6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2a9e5de48a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g2a9e5de48a6_0_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9e5de48a6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2a9e5de48a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g2a9e5de48a6_0_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Исключения в Python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Исключения в Python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3" name="Google Shape;243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25"/>
          <p:cNvSpPr txBox="1"/>
          <p:nvPr>
            <p:ph idx="1" type="body"/>
          </p:nvPr>
        </p:nvSpPr>
        <p:spPr>
          <a:xfrm>
            <a:off x="184575" y="1711150"/>
            <a:ext cx="11905500" cy="50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Исключение — это событие, возникающее во время выполнения программы, которое прерывает нормальный ход выполнения инструкций. Например, попытка деления на ноль или доступ к несуществующему ключу в словаре приведет к исключению.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Обработка исключений — это способ обработки ошибок, которые могут возникнуть во время выполнения программы. Исключения помогают программисту эффективно справляться с ошибками, сохраняя работоспособность программы и предотвращая возможные сбои.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Как обрабатываются исключения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1" name="Google Shape;251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26"/>
          <p:cNvSpPr txBox="1"/>
          <p:nvPr>
            <p:ph idx="1" type="body"/>
          </p:nvPr>
        </p:nvSpPr>
        <p:spPr>
          <a:xfrm>
            <a:off x="184575" y="1711150"/>
            <a:ext cx="11905500" cy="51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Исключения обрабатываются с помощью блоков </a:t>
            </a:r>
            <a:r>
              <a:rPr b="1" lang="en-US" sz="2600">
                <a:solidFill>
                  <a:schemeClr val="dk2"/>
                </a:solidFill>
              </a:rPr>
              <a:t>try </a:t>
            </a:r>
            <a:r>
              <a:rPr lang="en-US" sz="2600">
                <a:solidFill>
                  <a:schemeClr val="dk2"/>
                </a:solidFill>
              </a:rPr>
              <a:t>и </a:t>
            </a:r>
            <a:r>
              <a:rPr b="1" lang="en-US" sz="2600">
                <a:solidFill>
                  <a:schemeClr val="dk2"/>
                </a:solidFill>
              </a:rPr>
              <a:t>except</a:t>
            </a:r>
            <a:r>
              <a:rPr lang="en-US" sz="2600">
                <a:solidFill>
                  <a:schemeClr val="dk2"/>
                </a:solidFill>
              </a:rPr>
              <a:t>. Код, в котором может возникнуть исключение, помещается в блок </a:t>
            </a:r>
            <a:r>
              <a:rPr b="1" lang="en-US" sz="2600">
                <a:solidFill>
                  <a:schemeClr val="dk2"/>
                </a:solidFill>
              </a:rPr>
              <a:t>try</a:t>
            </a:r>
            <a:r>
              <a:rPr lang="en-US" sz="2600">
                <a:solidFill>
                  <a:schemeClr val="dk2"/>
                </a:solidFill>
              </a:rPr>
              <a:t>. Обработка исключения осуществляется в одном или нескольких блоках </a:t>
            </a:r>
            <a:r>
              <a:rPr b="1" lang="en-US" sz="2600">
                <a:solidFill>
                  <a:schemeClr val="dk2"/>
                </a:solidFill>
              </a:rPr>
              <a:t>except</a:t>
            </a:r>
            <a:r>
              <a:rPr lang="en-US" sz="2600">
                <a:solidFill>
                  <a:schemeClr val="dk2"/>
                </a:solidFill>
              </a:rPr>
              <a:t>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    </a:t>
            </a:r>
            <a:r>
              <a:rPr i="1" lang="en-US" sz="2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Попытка выполнить опасный код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result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6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except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6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ZeroDivisionError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n-US" sz="26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Обработка исключения деления на ноль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US" sz="26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6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"Деление на ноль!"</a:t>
            </a:r>
            <a:r>
              <a:rPr lang="en-US" sz="26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2925275" y="136525"/>
            <a:ext cx="91647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>
                <a:solidFill>
                  <a:schemeClr val="dk2"/>
                </a:solidFill>
              </a:rPr>
              <a:t>Распространенные типы исключений</a:t>
            </a:r>
            <a:endParaRPr sz="4200">
              <a:solidFill>
                <a:schemeClr val="dk2"/>
              </a:solidFill>
            </a:endParaRPr>
          </a:p>
        </p:txBody>
      </p:sp>
      <p:sp>
        <p:nvSpPr>
          <p:cNvPr id="259" name="Google Shape;259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p27"/>
          <p:cNvSpPr txBox="1"/>
          <p:nvPr>
            <p:ph idx="1" type="body"/>
          </p:nvPr>
        </p:nvSpPr>
        <p:spPr>
          <a:xfrm>
            <a:off x="80550" y="1613950"/>
            <a:ext cx="12030900" cy="51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•"/>
            </a:pPr>
            <a:r>
              <a:rPr b="1" lang="en-US" sz="2500">
                <a:solidFill>
                  <a:schemeClr val="dk2"/>
                </a:solidFill>
              </a:rPr>
              <a:t>ZeroDivisionError</a:t>
            </a:r>
            <a:r>
              <a:rPr lang="en-US" sz="2500">
                <a:solidFill>
                  <a:schemeClr val="dk2"/>
                </a:solidFill>
              </a:rPr>
              <a:t>: возникает при попытке деления на ноль.</a:t>
            </a:r>
            <a:endParaRPr sz="2500">
              <a:solidFill>
                <a:schemeClr val="dk2"/>
              </a:solidFill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•"/>
            </a:pPr>
            <a:r>
              <a:rPr b="1" lang="en-US" sz="2500">
                <a:solidFill>
                  <a:schemeClr val="dk2"/>
                </a:solidFill>
              </a:rPr>
              <a:t>IndexError</a:t>
            </a:r>
            <a:r>
              <a:rPr lang="en-US" sz="2500">
                <a:solidFill>
                  <a:schemeClr val="dk2"/>
                </a:solidFill>
              </a:rPr>
              <a:t>: возникает при попытке доступа к несуществующему индексу списка.</a:t>
            </a:r>
            <a:endParaRPr sz="2500">
              <a:solidFill>
                <a:schemeClr val="dk2"/>
              </a:solidFill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•"/>
            </a:pPr>
            <a:r>
              <a:rPr b="1" lang="en-US" sz="2500">
                <a:solidFill>
                  <a:schemeClr val="dk2"/>
                </a:solidFill>
              </a:rPr>
              <a:t>KeyError</a:t>
            </a:r>
            <a:r>
              <a:rPr lang="en-US" sz="2500">
                <a:solidFill>
                  <a:schemeClr val="dk2"/>
                </a:solidFill>
              </a:rPr>
              <a:t>: возникает при попытке доступа к несуществующему ключу в словаре.</a:t>
            </a:r>
            <a:endParaRPr sz="2500">
              <a:solidFill>
                <a:schemeClr val="dk2"/>
              </a:solidFill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•"/>
            </a:pPr>
            <a:r>
              <a:rPr b="1" lang="en-US" sz="2500">
                <a:solidFill>
                  <a:schemeClr val="dk2"/>
                </a:solidFill>
              </a:rPr>
              <a:t>ValueError</a:t>
            </a:r>
            <a:r>
              <a:rPr lang="en-US" sz="2500">
                <a:solidFill>
                  <a:schemeClr val="dk2"/>
                </a:solidFill>
              </a:rPr>
              <a:t>: возникает, когда функция получает аргумент правильного типа, но неподходящего значения. Например: </a:t>
            </a:r>
            <a:r>
              <a:rPr lang="en-US" sz="2500">
                <a:solidFill>
                  <a:srgbClr val="3000A0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2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25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"не число"</a:t>
            </a:r>
            <a:r>
              <a:rPr lang="en-US" sz="2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500">
              <a:solidFill>
                <a:schemeClr val="dk2"/>
              </a:solidFill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•"/>
            </a:pPr>
            <a:r>
              <a:rPr b="1" lang="en-US" sz="2500">
                <a:solidFill>
                  <a:schemeClr val="dk2"/>
                </a:solidFill>
              </a:rPr>
              <a:t>TypeError</a:t>
            </a:r>
            <a:r>
              <a:rPr lang="en-US" sz="2500">
                <a:solidFill>
                  <a:schemeClr val="dk2"/>
                </a:solidFill>
              </a:rPr>
              <a:t>: возникает при попытке выполнения операции с объектом несоответствующего типа. Например:  </a:t>
            </a:r>
            <a:r>
              <a:rPr lang="en-US" sz="25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result</a:t>
            </a:r>
            <a:r>
              <a:rPr lang="en-US" sz="2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5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US" sz="2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5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"текст"</a:t>
            </a:r>
            <a:r>
              <a:rPr lang="en-US" sz="2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25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US" sz="2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500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endParaRPr sz="2500">
              <a:solidFill>
                <a:srgbClr val="10604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•"/>
            </a:pPr>
            <a:r>
              <a:rPr b="1" lang="en-US" sz="2500">
                <a:solidFill>
                  <a:schemeClr val="dk2"/>
                </a:solidFill>
              </a:rPr>
              <a:t>FileNotFoundError</a:t>
            </a:r>
            <a:r>
              <a:rPr lang="en-US" sz="2500">
                <a:solidFill>
                  <a:schemeClr val="dk2"/>
                </a:solidFill>
              </a:rPr>
              <a:t>: возникает при попытке открыть файл, который не существует.</a:t>
            </a:r>
            <a:endParaRPr sz="25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/>
          <p:nvPr>
            <p:ph type="title"/>
          </p:nvPr>
        </p:nvSpPr>
        <p:spPr>
          <a:xfrm>
            <a:off x="2925275" y="136525"/>
            <a:ext cx="91647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>
                <a:solidFill>
                  <a:schemeClr val="dk2"/>
                </a:solidFill>
              </a:rPr>
              <a:t>Дополнительные конструкции для работы с исключениями</a:t>
            </a:r>
            <a:endParaRPr sz="4200">
              <a:solidFill>
                <a:schemeClr val="dk2"/>
              </a:solidFill>
            </a:endParaRPr>
          </a:p>
        </p:txBody>
      </p:sp>
      <p:sp>
        <p:nvSpPr>
          <p:cNvPr id="267" name="Google Shape;267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28"/>
          <p:cNvSpPr txBox="1"/>
          <p:nvPr>
            <p:ph idx="1" type="body"/>
          </p:nvPr>
        </p:nvSpPr>
        <p:spPr>
          <a:xfrm>
            <a:off x="80550" y="1791325"/>
            <a:ext cx="12030900" cy="51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try</a:t>
            </a:r>
            <a:r>
              <a:rPr lang="en-US" sz="2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25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n-US" sz="25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Опасный код</a:t>
            </a:r>
            <a:endParaRPr sz="25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except</a:t>
            </a:r>
            <a:r>
              <a:rPr lang="en-US" sz="2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5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SomeError</a:t>
            </a:r>
            <a:r>
              <a:rPr lang="en-US" sz="2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25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n-US" sz="25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Обработка исключения</a:t>
            </a:r>
            <a:endParaRPr sz="25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n-US" sz="2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25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n-US" sz="25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Код, выполняемый если исключений не было</a:t>
            </a:r>
            <a:endParaRPr sz="25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finally</a:t>
            </a:r>
            <a:r>
              <a:rPr lang="en-US" sz="2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25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n-US" sz="25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Код, выполняемый всегда</a:t>
            </a:r>
            <a:endParaRPr i="1" sz="2500">
              <a:solidFill>
                <a:srgbClr val="A05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275" name="Google Shape;275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