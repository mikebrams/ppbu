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12192000"/>
  <p:notesSz cx="6858000" cy="9144000"/>
  <p:embeddedFontLst>
    <p:embeddedFont>
      <p:font typeface="Gill Sans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814792-FF72-486E-8157-38EC0FF07C8E}">
  <a:tblStyle styleId="{6A814792-FF72-486E-8157-38EC0FF07C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illSans-regular.fntdata"/><Relationship Id="rId20" Type="http://schemas.openxmlformats.org/officeDocument/2006/relationships/slide" Target="slides/slide14.xml"/><Relationship Id="rId41" Type="http://schemas.openxmlformats.org/officeDocument/2006/relationships/font" Target="fonts/GillSans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9d1a30f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39d1a30f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 </a:t>
            </a:r>
            <a:r>
              <a:rPr lang="en-US">
                <a:solidFill>
                  <a:srgbClr val="3D4149"/>
                </a:solidFill>
              </a:rPr>
              <a:t>Линейные алгоритмы работают таким образом: они последовательно обрабатывают каждый элемент данных по одному, чтобы найти нужную информацию или выполнить определенную задачу. </a:t>
            </a:r>
            <a:endParaRPr>
              <a:solidFill>
                <a:srgbClr val="3D41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Вопрос к ученикам - приведите примеры линейных алгоритмов из жизни.</a:t>
            </a:r>
            <a:endParaRPr/>
          </a:p>
        </p:txBody>
      </p:sp>
      <p:sp>
        <p:nvSpPr>
          <p:cNvPr id="240" name="Google Shape;240;g2a39d1a30fc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5452ab48a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5452ab48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минут. Обсудить где в жизни встречаются циклические процессы и циклические алгоритмы.</a:t>
            </a:r>
            <a:endParaRPr/>
          </a:p>
        </p:txBody>
      </p:sp>
      <p:sp>
        <p:nvSpPr>
          <p:cNvPr id="248" name="Google Shape;248;g2a5452ab48a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5452ab48a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5452ab48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мин. Обсудить примеры алгоритмов с ветвлением.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 сколько веток может разветвляться алгоритм.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 каких устройствах и в каких жизненных ситуациях бывает ветвление и выбор из нескольких вариантов.</a:t>
            </a:r>
            <a:endParaRPr/>
          </a:p>
        </p:txBody>
      </p:sp>
      <p:sp>
        <p:nvSpPr>
          <p:cNvPr id="256" name="Google Shape;256;g2a5452ab48a_0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5452ab48a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5452ab48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Программирование решает огромное количество задач, и </a:t>
            </a:r>
            <a:r>
              <a:rPr lang="en-US"/>
              <a:t>использует различные</a:t>
            </a:r>
            <a:r>
              <a:rPr lang="en-US"/>
              <a:t> сложные алгоритмы.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 этом курсе мы не будем изучать сложные алгоритмы, а будем использовать готовые методы Python.</a:t>
            </a:r>
            <a:endParaRPr/>
          </a:p>
        </p:txBody>
      </p:sp>
      <p:sp>
        <p:nvSpPr>
          <p:cNvPr id="264" name="Google Shape;264;g2a5452ab48a_0_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76e2d42c0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2a76e2d42c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мин. Каждый из этих алгоритмов имеет свои преимущества и недостатки,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 также различную эффективность в зависимости от структуры данных, которые им необходимо сортировать.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 этом курсе мы не будем подробно изучать алгоритмы сортировки. Мы просто будем использовать sort() для сортировки списков.</a:t>
            </a:r>
            <a:endParaRPr/>
          </a:p>
        </p:txBody>
      </p:sp>
      <p:sp>
        <p:nvSpPr>
          <p:cNvPr id="272" name="Google Shape;272;g2a76e2d42c0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76e2d42c0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a76e2d42c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До начала программирования алгоритм нужно придумать и нарисовать его схему. Для рисования алгоритмов используют специальный ГОСТ.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Гост утвержден в 1990 году на основании зарубежного </a:t>
            </a:r>
            <a:r>
              <a:rPr lang="en-US"/>
              <a:t>стандарта ISO 5807-85, утвержденного в 1985 году. Стандарт введен уже после распада СССР, с 1 января 1992 года, в ночь когда отпустили цены.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Языки программирования и программы и технологии с тех пор сильно изменились, но сами алгоритмы остались прежними.</a:t>
            </a:r>
            <a:r>
              <a:rPr lang="en-US"/>
              <a:t> </a:t>
            </a:r>
            <a:endParaRPr/>
          </a:p>
        </p:txBody>
      </p:sp>
      <p:sp>
        <p:nvSpPr>
          <p:cNvPr id="280" name="Google Shape;280;g2a76e2d42c0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a76e2d42c0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2a76e2d42c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1.1 Данные - это, например, данные, которые ввел пользователь с клавиатуры.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1.2. Это данные, которые </a:t>
            </a:r>
            <a:r>
              <a:rPr lang="en-US"/>
              <a:t>где то</a:t>
            </a:r>
            <a:r>
              <a:rPr lang="en-US"/>
              <a:t> сохранены. Например файл на жестком диске.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2.1. Данные, которые в ОЗУ.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1.1 используем когда вводим данные с клавиатуры. 1.2 используем когда читаем данные из файла.</a:t>
            </a:r>
            <a:endParaRPr/>
          </a:p>
        </p:txBody>
      </p:sp>
      <p:sp>
        <p:nvSpPr>
          <p:cNvPr id="289" name="Google Shape;289;g2a76e2d42c0_0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a76e2d42c0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2a76e2d42c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2.2 Не используется. Данные на магнитных </a:t>
            </a:r>
            <a:r>
              <a:rPr lang="en-US"/>
              <a:t>лентах</a:t>
            </a:r>
            <a:r>
              <a:rPr lang="en-US"/>
              <a:t> сейчас не хранятся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2.3 - Это сейчас называется флешка.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2.4 - не используется. Это перфокарта.</a:t>
            </a:r>
            <a:endParaRPr/>
          </a:p>
        </p:txBody>
      </p:sp>
      <p:sp>
        <p:nvSpPr>
          <p:cNvPr id="297" name="Google Shape;297;g2a76e2d42c0_0_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a76e2d42c0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2a76e2d42c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2.5 можно использовать для ввода данных пользователем. </a:t>
            </a:r>
            <a:r>
              <a:rPr lang="en-US"/>
              <a:t>Какая команда питона служит для этого?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2.6 не используем. Это ввод данных с перфокарты.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2.7 не используем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2.8 используем - это вывод данных на дисплей. Какая команда питона служит для этого?</a:t>
            </a:r>
            <a:endParaRPr/>
          </a:p>
        </p:txBody>
      </p:sp>
      <p:sp>
        <p:nvSpPr>
          <p:cNvPr id="305" name="Google Shape;305;g2a76e2d42c0_0_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a76e2d42c0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2a76e2d42c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1.1 Основной символ для описания разных действий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2.2 не используем.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2.3 Используем для описания ветвления. </a:t>
            </a:r>
            <a:r>
              <a:rPr lang="en-US"/>
              <a:t>Какая команда питона служит для ветвления алгоритма?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Множественное ветвление изображаем с помощью множества исходящих линий и подписываем каждую линию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 каком условии она выполняется.</a:t>
            </a:r>
            <a:endParaRPr/>
          </a:p>
        </p:txBody>
      </p:sp>
      <p:sp>
        <p:nvSpPr>
          <p:cNvPr id="313" name="Google Shape;313;g2a76e2d42c0_0_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a76e2d42c0_0_3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2a76e2d42c0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r>
              <a:rPr lang="en-US"/>
              <a:t> мин. </a:t>
            </a:r>
            <a:endParaRPr/>
          </a:p>
        </p:txBody>
      </p:sp>
      <p:sp>
        <p:nvSpPr>
          <p:cNvPr id="322" name="Google Shape;322;g2a76e2d42c0_0_3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a76e2d42c0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2a76e2d42c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Цикл описывается с помощью двух блоков.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 заголовке прописывается условие завершения цикла.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Какая команда питона служит для создания цикла?</a:t>
            </a:r>
            <a:endParaRPr/>
          </a:p>
        </p:txBody>
      </p:sp>
      <p:sp>
        <p:nvSpPr>
          <p:cNvPr id="330" name="Google Shape;330;g2a76e2d42c0_0_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a76e2d42c0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2a76e2d42c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Начало и конец алгоритма изображаются с помощью овального символа “терминатор”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Комментарии полезны как в коде, так и при разработке алгоритмов.</a:t>
            </a:r>
            <a:endParaRPr/>
          </a:p>
        </p:txBody>
      </p:sp>
      <p:sp>
        <p:nvSpPr>
          <p:cNvPr id="338" name="Google Shape;338;g2a76e2d42c0_0_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a76e2d42c0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a76e2d42c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минуты. Рассказать что у каждого языка программирования свой собственный компилятор.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2a76e2d42c0_0_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a76e2d42c0_0_3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2a76e2d42c0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</a:t>
            </a:r>
            <a:r>
              <a:rPr lang="en-US"/>
              <a:t>мин. </a:t>
            </a:r>
            <a:endParaRPr/>
          </a:p>
        </p:txBody>
      </p:sp>
      <p:sp>
        <p:nvSpPr>
          <p:cNvPr id="353" name="Google Shape;353;g2a76e2d42c0_0_3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a76e2d42c0_0_3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2a76e2d42c0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r>
              <a:rPr lang="en-US"/>
              <a:t> мин. </a:t>
            </a:r>
            <a:endParaRPr/>
          </a:p>
        </p:txBody>
      </p:sp>
      <p:sp>
        <p:nvSpPr>
          <p:cNvPr id="362" name="Google Shape;362;g2a76e2d42c0_0_3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a76e2d42c0_0_3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2a76e2d42c0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r>
              <a:rPr lang="en-US"/>
              <a:t> мин. Обсудить виды линейных алгоритмов. Что делать если алгоритм очень длинный?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Использовать кружочек для переноса алгоритма.</a:t>
            </a:r>
            <a:endParaRPr/>
          </a:p>
        </p:txBody>
      </p:sp>
      <p:sp>
        <p:nvSpPr>
          <p:cNvPr id="370" name="Google Shape;370;g2a76e2d42c0_0_3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a76e2d42c0_0_3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2a76e2d42c0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Обсудить виды линейных алгоритмов. Что делать если алгоритм очень длинный?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Использовать кружочек для переноса алгоритма.</a:t>
            </a:r>
            <a:endParaRPr/>
          </a:p>
        </p:txBody>
      </p:sp>
      <p:sp>
        <p:nvSpPr>
          <p:cNvPr id="380" name="Google Shape;380;g2a76e2d42c0_0_3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a76e2d42c0_0_3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2a76e2d42c0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Обсудить виды циклических алгоритмов.</a:t>
            </a:r>
            <a:endParaRPr/>
          </a:p>
        </p:txBody>
      </p:sp>
      <p:sp>
        <p:nvSpPr>
          <p:cNvPr id="389" name="Google Shape;389;g2a76e2d42c0_0_3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a76e2d42c0_0_3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2a76e2d42c0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Обсудить виды циклических алгоритмов.</a:t>
            </a:r>
            <a:endParaRPr/>
          </a:p>
        </p:txBody>
      </p:sp>
      <p:sp>
        <p:nvSpPr>
          <p:cNvPr id="398" name="Google Shape;398;g2a76e2d42c0_0_3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a76e2d42c0_0_3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2a76e2d42c0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Обсудить виды циклических алгоритмов.</a:t>
            </a:r>
            <a:endParaRPr/>
          </a:p>
        </p:txBody>
      </p:sp>
      <p:sp>
        <p:nvSpPr>
          <p:cNvPr id="407" name="Google Shape;407;g2a76e2d42c0_0_3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a76e2d42c0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2a76e2d42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Обсудить что алгоритмы по ГОСТ мы используем для описания процесса работы программы.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Какие еще бывают процессы в жизни? Приведите примеры.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 основном это бизнес- процессы – процессы работы организаций и процессы работы технических систем.</a:t>
            </a:r>
            <a:endParaRPr/>
          </a:p>
        </p:txBody>
      </p:sp>
      <p:sp>
        <p:nvSpPr>
          <p:cNvPr id="415" name="Google Shape;415;g2a76e2d42c0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a76e2d42c0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2a76e2d42c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Эта очень популярная нотация для описания бизнес процессов.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Очень часто используется для постановки задач программистам, поэтому ее надо понимать.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приведите примеры</a:t>
            </a:r>
            <a:r>
              <a:rPr lang="en-US"/>
              <a:t> процессов в </a:t>
            </a:r>
            <a:r>
              <a:rPr lang="en-US"/>
              <a:t>организациях</a:t>
            </a:r>
            <a:r>
              <a:rPr lang="en-US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Звонок клиента менеджеру. Скрипты по которым разговаривают менеджеры. Заказ товара. Возврат товара.</a:t>
            </a:r>
            <a:endParaRPr/>
          </a:p>
        </p:txBody>
      </p:sp>
      <p:sp>
        <p:nvSpPr>
          <p:cNvPr id="423" name="Google Shape;423;g2a76e2d42c0_0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a76e2d42c0_0_4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2a76e2d42c0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В этой диаграмме указываются имена и типы переменных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 другие данные нужные программистам при разработке программ.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Какие есть знакомые слова на этой диаграмме? Типы данных string, имена переменных name, и т.д.</a:t>
            </a:r>
            <a:endParaRPr/>
          </a:p>
        </p:txBody>
      </p:sp>
      <p:sp>
        <p:nvSpPr>
          <p:cNvPr id="432" name="Google Shape;432;g2a76e2d42c0_0_4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a76e2d42c0_0_4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2a76e2d42c0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В этой диаграмме показан процесс приготовления пиццы.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Почитайте английские слова и обсудите этот процесс.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Это слишком обобщенная диаграмма. И непонятно кто и что конкретно делает.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Лучше всего бизнес процессы описывает нотация BPMN</a:t>
            </a:r>
            <a:endParaRPr/>
          </a:p>
        </p:txBody>
      </p:sp>
      <p:sp>
        <p:nvSpPr>
          <p:cNvPr id="441" name="Google Shape;441;g2a76e2d42c0_0_4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a76e2d42c0_0_4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2a76e2d42c0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мин. Обсудить что </a:t>
            </a:r>
            <a:r>
              <a:rPr lang="en-US"/>
              <a:t>в маленьких</a:t>
            </a:r>
            <a:r>
              <a:rPr lang="en-US"/>
              <a:t> организациях </a:t>
            </a:r>
            <a:r>
              <a:rPr lang="en-US"/>
              <a:t>в каждой</a:t>
            </a:r>
            <a:r>
              <a:rPr lang="en-US"/>
              <a:t> дорожке </a:t>
            </a:r>
            <a:r>
              <a:rPr lang="en-US"/>
              <a:t>может</a:t>
            </a:r>
            <a:r>
              <a:rPr lang="en-US"/>
              <a:t> быть 1 человек,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 в крупных организациях - это отдел или департамент.</a:t>
            </a:r>
            <a:endParaRPr/>
          </a:p>
        </p:txBody>
      </p:sp>
      <p:sp>
        <p:nvSpPr>
          <p:cNvPr id="450" name="Google Shape;450;g2a76e2d42c0_0_4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a76e2d42c0_0_4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2a76e2d42c0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минуты. Обсудить что блок Задание очень похож на прямоугольный блок из ГОСТ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Циклическое действие непохоже. Но в таком виде оно занимает меньше места.</a:t>
            </a:r>
            <a:endParaRPr/>
          </a:p>
        </p:txBody>
      </p:sp>
      <p:sp>
        <p:nvSpPr>
          <p:cNvPr id="459" name="Google Shape;459;g2a76e2d42c0_0_4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a76e2d42c0_0_4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2a76e2d42c0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мин. Обсудить что эти операторы похожи на те, которые используются в Python</a:t>
            </a:r>
            <a:endParaRPr/>
          </a:p>
        </p:txBody>
      </p:sp>
      <p:sp>
        <p:nvSpPr>
          <p:cNvPr id="470" name="Google Shape;470;g2a76e2d42c0_0_4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a76e2d42c0_0_4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2a76e2d42c0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r>
              <a:rPr lang="en-US"/>
              <a:t> мин. Обсудить что в Python таких событий нету.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Эти события характерны именно для бизнес-процессов а не для программирования.</a:t>
            </a:r>
            <a:endParaRPr/>
          </a:p>
        </p:txBody>
      </p:sp>
      <p:sp>
        <p:nvSpPr>
          <p:cNvPr id="479" name="Google Shape;479;g2a76e2d42c0_0_4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a76e2d42c0_0_4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2a76e2d42c0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мин. Обсудить каким способом могут быть переданы сообщения.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Голосом, на бумаге, по СМС, в мессенджере, по электронной почте, голубиной почтой, и т.п.</a:t>
            </a:r>
            <a:endParaRPr/>
          </a:p>
        </p:txBody>
      </p:sp>
      <p:sp>
        <p:nvSpPr>
          <p:cNvPr id="488" name="Google Shape;488;g2a76e2d42c0_0_4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a582de983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a582de98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2a582de983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455275" y="1869000"/>
            <a:ext cx="78156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Лекция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Алгоритмы и нотации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Линейный алгоритм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330275" y="1915125"/>
            <a:ext cx="11478600" cy="4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Линейные алгоритмы – это инструкции пошагового выполнения задачи. 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Вот пример простого линейного алгоритма: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Допустим, у тебя есть книги на полке, и ты хочешь найти определенную книгу. Чтобы найти ее, ты начинаешь с первой книги и смотришь, совпадает ли название с той, которую ты ищешь. 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Если нет, то переходишь к следующей книге и снова проверяешь. Ты продолжаешь делать это до тех пор, пока не найдешь нужную книгу или не дойдешь до конца списка.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Это подобно поиску слова в словаре: ты начинаешь с первого слова и переходишь к следующему, пока не найдешь нужное.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Надеюсь, это помогло лучше понять, что такое линейные алгоритмы! Если у тебя есть какие-то конкретные вопросы или интересные примеры, с удовольствием помогу!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Циклический алгоритм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330275" y="1915125"/>
            <a:ext cx="11478600" cy="4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Циклический алгоритм – это алгоритм, в котором часть кода выполняется многократно до выполнения определенного условия. 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Код выполняется в цикле до тех пор, пока не будет достигнуто определенное условие завершения.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В </a:t>
            </a:r>
            <a:r>
              <a:rPr lang="en-US" sz="2400">
                <a:solidFill>
                  <a:schemeClr val="dk2"/>
                </a:solidFill>
              </a:rPr>
              <a:t>Python</a:t>
            </a:r>
            <a:r>
              <a:rPr lang="en-US" sz="2400">
                <a:solidFill>
                  <a:schemeClr val="dk2"/>
                </a:solidFill>
              </a:rPr>
              <a:t> циклический алгоритм реализован с помощью for.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range(5):  # Цикл завершится когда i станет равно 5</a:t>
            </a:r>
            <a:endParaRPr sz="24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 sz="24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Алгоритм с ветвлением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281600" y="1675050"/>
            <a:ext cx="11478600" cy="4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2"/>
                </a:solidFill>
              </a:rPr>
              <a:t>Алгоритм с ветвлением – это конструкция в программировании, которая позволяет выполнить определенный блок кода в зависимости от выполнения условия. Это позволяет программе принимать решения в различных ситуациях.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Основной способ реализации ветвления – это оператор if в языке Python. Он позволяет выполнить определенный блок кода, если условие истинно, и выполнить другой блок кода, если условие ложно.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age = int(input(“Введите возраст”))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&gt;= 18:  # Если возраст больше или равен 18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print("Вы совершеннолетний")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else:  # В противном случае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print("Вы несовершеннолетний")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Сложные алгоритмы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330275" y="1915125"/>
            <a:ext cx="11478600" cy="4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2"/>
                </a:solidFill>
              </a:rPr>
              <a:t>Алгоритмы сортировки: Эти алгоритмы помогают упорядочить данные. Например, переставляют числа в списке так, чтобы они были отсортированы по возрастанию или убыванию.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Алгоритмы поиска: Они используются для нахождения определенного элемента в списке данных. 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2"/>
                </a:solidFill>
              </a:rPr>
              <a:t>Рекурсивные алгоритмы: Они вызывают сами себя для решения задачи. Например, вычисление факториала числа.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2"/>
                </a:solidFill>
              </a:rPr>
              <a:t>Алгоритмы графов: Эти алгоритмы используются для работы с сетями или связями между объектами. Например, поиск кратчайшего пути между двумя городами на карте.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Виды алгоритмов сортировки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330275" y="1915125"/>
            <a:ext cx="11478600" cy="4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2"/>
                </a:solidFill>
              </a:rPr>
              <a:t>1. Сортировка пузырьком (Bubble Sort): Этот алгоритм проходит по списку многократно, сравнивая пары элементов и меняя их местами, если они находятся не в нужном порядке.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2"/>
                </a:solidFill>
              </a:rPr>
              <a:t>2. Сортировка вставками (Insertion Sort): Он просматривает элементы списка по одному и помещает каждый элемент в уже отсортированную часть списка так, чтобы список оставался отсортированным.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2"/>
                </a:solidFill>
              </a:rPr>
              <a:t>3. Сортировка выбором (Selection Sort): Этот алгоритм находит минимальный элемент из списка и помещает его в начало. Затем он повторяет этот процесс для оставшихся элементов, выбирая минимальный элемент из оставшейся части и помещая его на следующую позицию.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ГОСТ 19.701-90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4" name="Google Shape;28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625" y="1327175"/>
            <a:ext cx="6899750" cy="485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7625" y="6179500"/>
            <a:ext cx="7013480" cy="5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Описание символов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2" name="Google Shape;292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3" name="Google Shape;2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7350" y="1452450"/>
            <a:ext cx="7830951" cy="51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Описание символов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1" name="Google Shape;3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3388" y="1462900"/>
            <a:ext cx="7865225" cy="506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Описание символов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8" name="Google Shape;308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9" name="Google Shape;3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475" y="1071875"/>
            <a:ext cx="6755361" cy="56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Описание символов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6" name="Google Shape;316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7" name="Google Shape;31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200" y="1368925"/>
            <a:ext cx="7657302" cy="530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8825" y="5810025"/>
            <a:ext cx="1390650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Примеры ветвлений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5" name="Google Shape;325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6" name="Google Shape;3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800" y="1796900"/>
            <a:ext cx="5773707" cy="38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Описание символов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3" name="Google Shape;333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4" name="Google Shape;3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400" y="1473325"/>
            <a:ext cx="9215208" cy="493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Описание символов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1" name="Google Shape;341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2" name="Google Shape;3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3050" y="2099625"/>
            <a:ext cx="8333550" cy="31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"/>
          <p:cNvSpPr txBox="1"/>
          <p:nvPr>
            <p:ph idx="1" type="body"/>
          </p:nvPr>
        </p:nvSpPr>
        <p:spPr>
          <a:xfrm>
            <a:off x="838200" y="2435124"/>
            <a:ext cx="10515600" cy="1597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/>
              <a:t>Перерыв 5 минут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9" name="Google Shape;349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Правила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6" name="Google Shape;356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7" name="Google Shape;35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9300" y="1682075"/>
            <a:ext cx="9308474" cy="36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625" y="5507250"/>
            <a:ext cx="8932400" cy="5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Соединения линиями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65" name="Google Shape;365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6" name="Google Shape;36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1975" y="1400225"/>
            <a:ext cx="7588050" cy="466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Линейный алгоритм по ГОСТ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73" name="Google Shape;373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4" name="Google Shape;3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975" y="1160175"/>
            <a:ext cx="922750" cy="56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1"/>
          <p:cNvSpPr txBox="1"/>
          <p:nvPr>
            <p:ph idx="1" type="body"/>
          </p:nvPr>
        </p:nvSpPr>
        <p:spPr>
          <a:xfrm>
            <a:off x="4060525" y="1622850"/>
            <a:ext cx="8131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Линейный а</a:t>
            </a:r>
            <a:r>
              <a:rPr lang="en-US" sz="3000">
                <a:solidFill>
                  <a:schemeClr val="dk2"/>
                </a:solidFill>
              </a:rPr>
              <a:t>лгоритм</a:t>
            </a:r>
            <a:r>
              <a:rPr lang="en-US" sz="3000">
                <a:solidFill>
                  <a:schemeClr val="dk2"/>
                </a:solidFill>
              </a:rPr>
              <a:t> рисования треугольника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376" name="Google Shape;37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0525" y="3617975"/>
            <a:ext cx="7369875" cy="12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Линейный алгоритм по ГОСТ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83" name="Google Shape;383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p42"/>
          <p:cNvSpPr txBox="1"/>
          <p:nvPr>
            <p:ph idx="1" type="body"/>
          </p:nvPr>
        </p:nvSpPr>
        <p:spPr>
          <a:xfrm>
            <a:off x="6492650" y="1622850"/>
            <a:ext cx="56994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Линейный алгоритм рисования шестиугольника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385" name="Google Shape;38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575" y="1028700"/>
            <a:ext cx="2305050" cy="58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Циклический </a:t>
            </a:r>
            <a:r>
              <a:rPr lang="en-US">
                <a:solidFill>
                  <a:schemeClr val="dk2"/>
                </a:solidFill>
              </a:rPr>
              <a:t>алгоритм по ГОСТ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92" name="Google Shape;392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3" name="Google Shape;393;p43"/>
          <p:cNvSpPr txBox="1"/>
          <p:nvPr>
            <p:ph idx="1" type="body"/>
          </p:nvPr>
        </p:nvSpPr>
        <p:spPr>
          <a:xfrm>
            <a:off x="6492650" y="1622850"/>
            <a:ext cx="56994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Циклический </a:t>
            </a:r>
            <a:r>
              <a:rPr lang="en-US" sz="3000">
                <a:solidFill>
                  <a:schemeClr val="dk2"/>
                </a:solidFill>
              </a:rPr>
              <a:t>алгоритм рисования квадрата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394" name="Google Shape;3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9725" y="1196300"/>
            <a:ext cx="1131500" cy="558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Ветвление</a:t>
            </a:r>
            <a:r>
              <a:rPr lang="en-US">
                <a:solidFill>
                  <a:schemeClr val="dk2"/>
                </a:solidFill>
              </a:rPr>
              <a:t> по ГОСТ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1" name="Google Shape;401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2" name="Google Shape;402;p44"/>
          <p:cNvSpPr txBox="1"/>
          <p:nvPr>
            <p:ph idx="1" type="body"/>
          </p:nvPr>
        </p:nvSpPr>
        <p:spPr>
          <a:xfrm>
            <a:off x="5553200" y="1622850"/>
            <a:ext cx="66390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Определение положительного числа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403" name="Google Shape;4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525" y="1071275"/>
            <a:ext cx="1651791" cy="565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0" name="Google Shape;41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1025" y="89725"/>
            <a:ext cx="4242150" cy="6690151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5"/>
          <p:cNvSpPr txBox="1"/>
          <p:nvPr>
            <p:ph type="title"/>
          </p:nvPr>
        </p:nvSpPr>
        <p:spPr>
          <a:xfrm>
            <a:off x="4885150" y="136525"/>
            <a:ext cx="7098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Множественное ветвление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Нотации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8" name="Google Shape;418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46"/>
          <p:cNvSpPr txBox="1"/>
          <p:nvPr>
            <p:ph idx="1" type="body"/>
          </p:nvPr>
        </p:nvSpPr>
        <p:spPr>
          <a:xfrm>
            <a:off x="330275" y="1915125"/>
            <a:ext cx="11478600" cy="4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2"/>
                </a:solidFill>
              </a:rPr>
              <a:t>Нотация – это система символов, графических элементов, правил и соглашений, используемая для описания определенной деятельности.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Это своего рода язык, который позволяет людям описывать и визуализировать концепции, идеи и процессы.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2"/>
                </a:solidFill>
              </a:rPr>
              <a:t>Нотации используются в различных областях, таких как информационные технологии, инженерия, бизнес-процессы, архитектура, математика и другие.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2"/>
                </a:solidFill>
              </a:rPr>
              <a:t>Основная цель нотации состоит в том, чтобы описать процесс таким образом, чтобы он был понятным для всех участников, работающих в данной области.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Примеры нотаций включают в себя графические языки, такие как диаграммы UML, BPMN, ERD.  ГОСТ на алгоритмы также можно считать примером нотации.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Нотация BPMN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6" name="Google Shape;426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" name="Google Shape;427;p47"/>
          <p:cNvSpPr txBox="1"/>
          <p:nvPr>
            <p:ph idx="1" type="body"/>
          </p:nvPr>
        </p:nvSpPr>
        <p:spPr>
          <a:xfrm>
            <a:off x="8350100" y="1915125"/>
            <a:ext cx="3458700" cy="28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Нотация BPMN (Business Process Model and Notation) – предназначена для моделирования бизнес-процессов. 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Очень часто используется для постановки задач программистам!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428" name="Google Shape;42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75" y="2057850"/>
            <a:ext cx="8045301" cy="36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Нотация </a:t>
            </a:r>
            <a:r>
              <a:rPr lang="en-US">
                <a:solidFill>
                  <a:schemeClr val="dk2"/>
                </a:solidFill>
              </a:rPr>
              <a:t>UML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5" name="Google Shape;435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" name="Google Shape;436;p48"/>
          <p:cNvSpPr txBox="1"/>
          <p:nvPr>
            <p:ph idx="1" type="body"/>
          </p:nvPr>
        </p:nvSpPr>
        <p:spPr>
          <a:xfrm>
            <a:off x="8350100" y="1915125"/>
            <a:ext cx="34587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UML (Unified Modeling Language):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UML представляет широкий спектр диаграмм, используемых для моделирования программных систем. 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437" name="Google Shape;43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25" y="1984800"/>
            <a:ext cx="7010400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Нотация </a:t>
            </a:r>
            <a:r>
              <a:rPr lang="en-US">
                <a:solidFill>
                  <a:schemeClr val="dk2"/>
                </a:solidFill>
              </a:rPr>
              <a:t>SIPOC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44" name="Google Shape;444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p49"/>
          <p:cNvSpPr txBox="1"/>
          <p:nvPr>
            <p:ph idx="1" type="body"/>
          </p:nvPr>
        </p:nvSpPr>
        <p:spPr>
          <a:xfrm>
            <a:off x="7536500" y="2181438"/>
            <a:ext cx="43872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SIPOC  (Supplier, Input, Process, Output, Customer) Поставщик, Входные данные, Процесс, Выходные данные, Заказчик)</a:t>
            </a:r>
            <a:r>
              <a:rPr lang="en-US" sz="2400">
                <a:solidFill>
                  <a:schemeClr val="dk2"/>
                </a:solidFill>
              </a:rPr>
              <a:t>: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Эта нотация используется в области управления процессами для создания высокоуровневой диаграммы, позволяющей понять и описать ключевые элементы бизнес-процесса.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446" name="Google Shape;44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00" y="2181450"/>
            <a:ext cx="7415399" cy="35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Нотация BPMN Пулы и дорожки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3" name="Google Shape;453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4" name="Google Shape;45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1125"/>
            <a:ext cx="6086475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6513525" y="1421125"/>
            <a:ext cx="56784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Пулы изображаются прямоугольником, который содержит несколько объектов потока управления.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Дорожки представляют собой часть пула. Дорожки позволяют организовать объекты потока управления.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На дорожке обычно размещаются задачи одного отдела или одного человека.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Нотация BPMN Задания и циклы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62" name="Google Shape;462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51"/>
          <p:cNvSpPr txBox="1"/>
          <p:nvPr>
            <p:ph idx="1" type="body"/>
          </p:nvPr>
        </p:nvSpPr>
        <p:spPr>
          <a:xfrm>
            <a:off x="4394575" y="2641470"/>
            <a:ext cx="66492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Задание (task) — это единица работы, элементарное действие в процессе.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Циклическое действие (loop activity) выполняется, пока условие цикла верно.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Задание, </a:t>
            </a:r>
            <a:r>
              <a:rPr lang="en-US" sz="2400">
                <a:solidFill>
                  <a:schemeClr val="dk2"/>
                </a:solidFill>
              </a:rPr>
              <a:t>выполняемое</a:t>
            </a:r>
            <a:r>
              <a:rPr lang="en-US" sz="2400">
                <a:solidFill>
                  <a:schemeClr val="dk2"/>
                </a:solidFill>
              </a:rPr>
              <a:t> вручную 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464" name="Google Shape;46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750" y="2485825"/>
            <a:ext cx="17716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6750" y="3792975"/>
            <a:ext cx="173355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6750" y="5033450"/>
            <a:ext cx="1672700" cy="1547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Нотация BPMN  Ветвления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73" name="Google Shape;473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4" name="Google Shape;474;p52"/>
          <p:cNvSpPr txBox="1"/>
          <p:nvPr>
            <p:ph idx="1" type="body"/>
          </p:nvPr>
        </p:nvSpPr>
        <p:spPr>
          <a:xfrm>
            <a:off x="2343800" y="1691700"/>
            <a:ext cx="98481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Оператор исключающего ИЛИ. Оператор используется для ветвления, поток управления направляется лишь по одной исходящей ветви. 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Оператор исключающего ИЛИ, управляемый событиями направляет поток управления лишь по той ветви, на которой первой произошло событие. После оператора данного типа могут следовать только события или действия-обработчики сообщений.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Оператор включающего ИЛИ активирует одну или более исходящих ветвей, в случае, когда осуществляется ветвление. 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Оператор И, использующийся для ветвления, разделяет один поток управления на несколько параллельных. 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475" name="Google Shape;47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725" y="1661200"/>
            <a:ext cx="2160075" cy="477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Нотация BPMN События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2" name="Google Shape;482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3" name="Google Shape;483;p53"/>
          <p:cNvSpPr txBox="1"/>
          <p:nvPr>
            <p:ph idx="1" type="body"/>
          </p:nvPr>
        </p:nvSpPr>
        <p:spPr>
          <a:xfrm>
            <a:off x="2343800" y="1691700"/>
            <a:ext cx="98481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События применяют для выражения того, что уже произошло. Событие всегда имеет причину возникновения и влияют на ход процесса.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События бывают стартовые, промежуточные и завершающие. 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По своей сути могут быть Сообщением, Таймером, Сигналом, Ошибкой, Эскалацией, Ссылкой, Условием. 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События, которые происходят во время исполнения задачи, могут прерывать ее или нет. Прерывающие промежуточные событие имеют сплошной контур, непрерывающие – обозначены пунктиром. 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484" name="Google Shape;48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74725"/>
            <a:ext cx="2039000" cy="17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Нотация BPMN Сообщения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91" name="Google Shape;491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2" name="Google Shape;492;p54"/>
          <p:cNvSpPr txBox="1"/>
          <p:nvPr>
            <p:ph idx="1" type="body"/>
          </p:nvPr>
        </p:nvSpPr>
        <p:spPr>
          <a:xfrm>
            <a:off x="2343800" y="1691700"/>
            <a:ext cx="98481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Используют для отображения обмена сообщениями между процессами: отправка (черный конверт) и получение (белый конверт).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493" name="Google Shape;49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80" y="1958250"/>
            <a:ext cx="1707375" cy="66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0950" y="2688925"/>
            <a:ext cx="5429650" cy="384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5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501" name="Google Shape;501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Запишите английские слова</a:t>
            </a:r>
            <a:endParaRPr/>
          </a:p>
        </p:txBody>
      </p:sp>
      <p:sp>
        <p:nvSpPr>
          <p:cNvPr id="508" name="Google Shape;508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09" name="Google Shape;509;p56"/>
          <p:cNvGraphicFramePr/>
          <p:nvPr/>
        </p:nvGraphicFramePr>
        <p:xfrm>
          <a:off x="4508275" y="164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{6A814792-FF72-486E-8157-38EC0FF07C8E}</a:tableStyleId>
              </a:tblPr>
              <a:tblGrid>
                <a:gridCol w="2051175"/>
                <a:gridCol w="205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black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черный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красный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желтый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orange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оранжевый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зеленый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blue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синий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brown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коричневый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grey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серый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