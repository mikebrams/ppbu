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Roboto Mono"/>
      <p:regular r:id="rId25"/>
      <p:bold r:id="rId26"/>
      <p:italic r:id="rId27"/>
      <p:boldItalic r:id="rId28"/>
    </p:embeddedFont>
    <p:embeddedFont>
      <p:font typeface="Gill Sans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Gill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Gill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998c6eb6b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a998c6eb6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a998c6eb6b_0_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cacc49751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2acacc4975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acacc49751_0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cacc49751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acacc4975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acacc49751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cacc49751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2acacc4975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2acacc49751_0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acacc49751_0_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2acacc4975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2acacc49751_0_10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acacc49751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2acacc4975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2acacc49751_0_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acacc49751_0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2acacc49751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2acacc49751_0_10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acacc49751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2acacc4975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2acacc49751_0_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acacc49751_0_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2acacc4975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2acacc49751_0_1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acacc49751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2acacc4975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2acacc49751_0_6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acacc49751_0_1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2acacc49751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2acacc49751_0_1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acacc49751_0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2acacc4975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2acacc49751_0_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acacc49751_0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2acacc4975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2acacc49751_0_5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acacc49751_0_1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2acacc4975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2acacc49751_0_1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acacc49751_0_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2acacc4975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2acacc49751_0_7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acacc49751_0_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2acacc4975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2acacc49751_0_8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acacc49751_0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2acacc4975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2acacc49751_0_9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Работа с файлами и папками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Библиотека OS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3" name="Google Shape;243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25"/>
          <p:cNvSpPr txBox="1"/>
          <p:nvPr>
            <p:ph idx="1" type="body"/>
          </p:nvPr>
        </p:nvSpPr>
        <p:spPr>
          <a:xfrm>
            <a:off x="184575" y="1711150"/>
            <a:ext cx="119055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Это полезный инструмент, который позволяет вам взаимодействовать с операционной системой вашего компьютера. Она предоставляет множество функций для работы с файлами, папками и путями к ним.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Библиотека OS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26"/>
          <p:cNvSpPr txBox="1"/>
          <p:nvPr>
            <p:ph idx="1" type="body"/>
          </p:nvPr>
        </p:nvSpPr>
        <p:spPr>
          <a:xfrm>
            <a:off x="184575" y="1711150"/>
            <a:ext cx="119055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Вы можете создавать новые файлы и папки, удалять их, перемещать, переименовывать и т.д.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mkdir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"new_folder"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US" sz="3000">
                <a:solidFill>
                  <a:schemeClr val="dk2"/>
                </a:solidFill>
              </a:rPr>
              <a:t>создаст папку с именем "new_folder".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2"/>
                </a:solidFill>
              </a:rPr>
              <a:t>Позволяет</a:t>
            </a:r>
            <a:r>
              <a:rPr lang="en-US" sz="3000">
                <a:solidFill>
                  <a:schemeClr val="dk2"/>
                </a:solidFill>
              </a:rPr>
              <a:t> узнать размер файла, когда он был последний раз изменен.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Позволяет </a:t>
            </a:r>
            <a:r>
              <a:rPr lang="en-US" sz="3000">
                <a:solidFill>
                  <a:schemeClr val="dk2"/>
                </a:solidFill>
              </a:rPr>
              <a:t>корректно составлять пути к файлам и папкам.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os.path.join()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9" name="Google Shape;259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27"/>
          <p:cNvSpPr txBox="1"/>
          <p:nvPr>
            <p:ph idx="1" type="body"/>
          </p:nvPr>
        </p:nvSpPr>
        <p:spPr>
          <a:xfrm>
            <a:off x="184575" y="1711150"/>
            <a:ext cx="119055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filepath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path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dir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dir: Это переменная, содержащая путь к папке. Например: "C:/Users".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file: Это переменная, содержащая имя файла. Например: "example.txt".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Функция os.path.join(dir, file) соединяет dir и file в один путь. Например: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Если dir = "C:/Users" и file = "example.txt" 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получится "C:/Users/example.txt".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os.path.getmtime()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7" name="Google Shape;267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28"/>
          <p:cNvSpPr txBox="1"/>
          <p:nvPr>
            <p:ph idx="1" type="body"/>
          </p:nvPr>
        </p:nvSpPr>
        <p:spPr>
          <a:xfrm>
            <a:off x="184575" y="1711150"/>
            <a:ext cx="119055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last_time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path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getmtime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filepath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используется для получения времени последнего изменения файла. 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filepath: Это строка, указывающая на конкретный файл в файловой системе. Например: "C:/Users/Example/example.txt".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Функция возвращает время последнего изменения файла (</a:t>
            </a:r>
            <a:r>
              <a:rPr b="1" lang="en-US" sz="3000">
                <a:solidFill>
                  <a:schemeClr val="dk2"/>
                </a:solidFill>
              </a:rPr>
              <a:t>timestamp</a:t>
            </a:r>
            <a:r>
              <a:rPr lang="en-US" sz="3000">
                <a:solidFill>
                  <a:schemeClr val="dk2"/>
                </a:solidFill>
              </a:rPr>
              <a:t>)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в секундах с начала эпохи Unix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(с 00:00 по Гринвичу 1 января 1970 года).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os.path.getmtime()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5" name="Google Shape;275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29"/>
          <p:cNvSpPr txBox="1"/>
          <p:nvPr>
            <p:ph idx="1" type="body"/>
          </p:nvPr>
        </p:nvSpPr>
        <p:spPr>
          <a:xfrm>
            <a:off x="184575" y="1711150"/>
            <a:ext cx="119055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os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filepath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"C:/path/to/your/file.txt"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last_modified_time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path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getmtime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filepath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"Время последнего изменения:"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last_modified_time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Время последнего изменения: 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1704641921.6406274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datetime.fromtimestamp()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83" name="Google Shape;283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" name="Google Shape;284;p30"/>
          <p:cNvSpPr txBox="1"/>
          <p:nvPr>
            <p:ph idx="1" type="body"/>
          </p:nvPr>
        </p:nvSpPr>
        <p:spPr>
          <a:xfrm>
            <a:off x="184575" y="1711150"/>
            <a:ext cx="119055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datetime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7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fromtimestamp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).</a:t>
            </a:r>
            <a:r>
              <a:rPr lang="en-US" sz="27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strftime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7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"%Y-%m-%d %H:%M:%S"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7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используется для преобразования временной метки (</a:t>
            </a:r>
            <a:r>
              <a:rPr b="1" lang="en-US" sz="3000">
                <a:solidFill>
                  <a:schemeClr val="dk2"/>
                </a:solidFill>
              </a:rPr>
              <a:t>timestamp</a:t>
            </a:r>
            <a:r>
              <a:rPr lang="en-US" sz="3000">
                <a:solidFill>
                  <a:schemeClr val="dk2"/>
                </a:solidFill>
              </a:rPr>
              <a:t>) в форматированную строку даты и времени. 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strftime("%Y-%m-%d %H:%M:%S"): преобразует объект datetime в строку в соответствии с заданным форматом. Формат определяется строкой, переданной в метод strftime. 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</a:rPr>
              <a:t>%Y — год (например, 2023),          %m — месяц (от 01 до 12),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</a:rPr>
              <a:t>%d — день месяца (от 01 до 31),  %H — часы (от 00 до 23),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</a:rPr>
              <a:t>%M — минуты (от 00 до 59),          %S — секунды (от 00 до 59).</a:t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datetime.fromtimestamp()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91" name="Google Shape;291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" name="Google Shape;292;p31"/>
          <p:cNvSpPr txBox="1"/>
          <p:nvPr>
            <p:ph idx="1" type="body"/>
          </p:nvPr>
        </p:nvSpPr>
        <p:spPr>
          <a:xfrm>
            <a:off x="184575" y="1711150"/>
            <a:ext cx="119055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os</a:t>
            </a:r>
            <a:endParaRPr sz="2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datetime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datetime</a:t>
            </a:r>
            <a:endParaRPr sz="2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filepath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4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"C:\Python\Scripts\OS_06.py"</a:t>
            </a:r>
            <a:endParaRPr sz="2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lt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os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4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path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4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getmtime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filepath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4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"Время последнего изменения:"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last_modified_time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ft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datetime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4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fromtimestamp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lt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).</a:t>
            </a:r>
            <a:r>
              <a:rPr lang="en-US" sz="24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strftime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4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"%Y-%m-%d %H:%M:%S"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4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"Дата и время изменения:"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ft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Время последнего изменения: 1704642060.7301037</a:t>
            </a:r>
            <a:endParaRPr sz="2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Дата и время изменения: 2024-01-07 18:41:00</a:t>
            </a:r>
            <a:endParaRPr i="1" sz="24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os.path.exists()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99" name="Google Shape;299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" name="Google Shape;300;p32"/>
          <p:cNvSpPr txBox="1"/>
          <p:nvPr>
            <p:ph idx="1" type="body"/>
          </p:nvPr>
        </p:nvSpPr>
        <p:spPr>
          <a:xfrm>
            <a:off x="184575" y="1711150"/>
            <a:ext cx="11905500" cy="48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path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exists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dir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И</a:t>
            </a:r>
            <a:r>
              <a:rPr lang="en-US" sz="3000">
                <a:solidFill>
                  <a:schemeClr val="dk2"/>
                </a:solidFill>
              </a:rPr>
              <a:t>спользуется для проверки существования файла или папки. 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Функция принимает один аргумент — путь к файлу или папке и возвращает True, если файл или директория существует, 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и False в противном случае.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dir: Это путь к файлу или папке, 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который вы хотите проверить.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os.path.exists()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07" name="Google Shape;307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" name="Google Shape;308;p33"/>
          <p:cNvSpPr txBox="1"/>
          <p:nvPr>
            <p:ph idx="1" type="body"/>
          </p:nvPr>
        </p:nvSpPr>
        <p:spPr>
          <a:xfrm>
            <a:off x="184575" y="1711150"/>
            <a:ext cx="11905500" cy="48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os</a:t>
            </a:r>
            <a:endParaRPr sz="27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new_dir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7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7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"C:\Python\Scripts"</a:t>
            </a:r>
            <a:endParaRPr sz="27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os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7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path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7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exists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7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new_dir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27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7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7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"Папка существует."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7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27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7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7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27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Папка</a:t>
            </a:r>
            <a:r>
              <a:rPr lang="en-US" sz="27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не существует."</a:t>
            </a:r>
            <a:r>
              <a:rPr lang="en-US" sz="2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7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os.makedirs()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15" name="Google Shape;315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6" name="Google Shape;316;p34"/>
          <p:cNvSpPr txBox="1"/>
          <p:nvPr>
            <p:ph idx="1" type="body"/>
          </p:nvPr>
        </p:nvSpPr>
        <p:spPr>
          <a:xfrm>
            <a:off x="184575" y="1711150"/>
            <a:ext cx="11905500" cy="48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Используется для создания новой папки по указанному пути.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Когда вы вызываете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makedirs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new_directory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-US" sz="3000">
                <a:solidFill>
                  <a:schemeClr val="dk2"/>
                </a:solidFill>
              </a:rPr>
              <a:t>, функция создает новую папку по указанному пути. 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Если папки в указанном пути уже существуют, они не будут повторно созданы, но если какие-либо промежуточные папки в пути отсутствуют,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makedirs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 </a:t>
            </a:r>
            <a:r>
              <a:rPr lang="en-US" sz="3000">
                <a:solidFill>
                  <a:schemeClr val="dk2"/>
                </a:solidFill>
              </a:rPr>
              <a:t>создаст их.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os.makedirs()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23" name="Google Shape;323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4" name="Google Shape;324;p35"/>
          <p:cNvSpPr txBox="1"/>
          <p:nvPr>
            <p:ph idx="1" type="body"/>
          </p:nvPr>
        </p:nvSpPr>
        <p:spPr>
          <a:xfrm>
            <a:off x="184575" y="1711150"/>
            <a:ext cx="11905500" cy="48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os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new_directory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27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C:\Python\Scripts_2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os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makedirs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new_directory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f"Папка 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new_directory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успешно создана."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Библиотека shutil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31" name="Google Shape;331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2" name="Google Shape;332;p36"/>
          <p:cNvSpPr txBox="1"/>
          <p:nvPr>
            <p:ph idx="1" type="body"/>
          </p:nvPr>
        </p:nvSpPr>
        <p:spPr>
          <a:xfrm>
            <a:off x="194450" y="2085575"/>
            <a:ext cx="11905500" cy="20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Используется </a:t>
            </a:r>
            <a:r>
              <a:rPr lang="en-US" sz="3000">
                <a:solidFill>
                  <a:schemeClr val="dk2"/>
                </a:solidFill>
              </a:rPr>
              <a:t>для выполнения различных операций с файлами и папками, особенно когда вам нужно копировать, перемещать, переименовывать или удалить множество файлов.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shutil</a:t>
            </a:r>
            <a:r>
              <a:rPr b="0" lang="en-US" sz="3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lang="en-US" sz="3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copytree</a:t>
            </a:r>
            <a:r>
              <a:rPr b="0" lang="en-US" sz="3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0" lang="en-US" sz="33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dir</a:t>
            </a:r>
            <a:r>
              <a:rPr b="0" lang="en-US" sz="3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0" lang="en-US" sz="3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new_dir</a:t>
            </a:r>
            <a:r>
              <a:rPr b="0" lang="en-US" sz="3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4700">
              <a:solidFill>
                <a:schemeClr val="dk2"/>
              </a:solidFill>
            </a:endParaRPr>
          </a:p>
        </p:txBody>
      </p:sp>
      <p:sp>
        <p:nvSpPr>
          <p:cNvPr id="339" name="Google Shape;339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0" name="Google Shape;340;p37"/>
          <p:cNvSpPr txBox="1"/>
          <p:nvPr>
            <p:ph idx="1" type="body"/>
          </p:nvPr>
        </p:nvSpPr>
        <p:spPr>
          <a:xfrm>
            <a:off x="184575" y="1711150"/>
            <a:ext cx="11905500" cy="48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</a:rPr>
              <a:t>Используется </a:t>
            </a:r>
            <a:r>
              <a:rPr lang="en-US" sz="2800">
                <a:solidFill>
                  <a:schemeClr val="dk2"/>
                </a:solidFill>
              </a:rPr>
              <a:t>для копирования всего содержимого папки из одного места (dir) в другое (new_dir).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</a:rPr>
              <a:t>dir: Это путь к исходной папке, содержимое которой вы копируете. Эта папка должна существовать.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2"/>
                </a:solidFill>
              </a:rPr>
              <a:t>new_dir: Это путь к папке, в которую будет скопировано содержимое исходной папки. Эта папка не должна существовать до вызова </a:t>
            </a:r>
            <a:endParaRPr sz="2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2"/>
                </a:solidFill>
              </a:rPr>
              <a:t>shutil.copytree, так как функция создаст её автоматически.</a:t>
            </a:r>
            <a:endParaRPr sz="2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shutil</a:t>
            </a:r>
            <a:r>
              <a:rPr b="0" lang="en-US" sz="3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lang="en-US" sz="3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copytree</a:t>
            </a:r>
            <a:r>
              <a:rPr b="0" lang="en-US" sz="3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0" lang="en-US" sz="33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dir</a:t>
            </a:r>
            <a:r>
              <a:rPr b="0" lang="en-US" sz="3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0" lang="en-US" sz="3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new_dir</a:t>
            </a:r>
            <a:r>
              <a:rPr b="0" lang="en-US" sz="3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4700">
              <a:solidFill>
                <a:schemeClr val="dk2"/>
              </a:solidFill>
            </a:endParaRPr>
          </a:p>
        </p:txBody>
      </p:sp>
      <p:sp>
        <p:nvSpPr>
          <p:cNvPr id="347" name="Google Shape;347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8" name="Google Shape;348;p38"/>
          <p:cNvSpPr txBox="1"/>
          <p:nvPr>
            <p:ph idx="1" type="body"/>
          </p:nvPr>
        </p:nvSpPr>
        <p:spPr>
          <a:xfrm>
            <a:off x="184575" y="1711150"/>
            <a:ext cx="11905500" cy="48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shutil</a:t>
            </a:r>
            <a:endParaRPr sz="28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source_dir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27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C:\Python\Scripts</a:t>
            </a:r>
            <a:r>
              <a:rPr lang="en-US" sz="2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endParaRPr sz="28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destination_dir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27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C:\Python\Scripts_2</a:t>
            </a:r>
            <a:r>
              <a:rPr lang="en-US" sz="2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endParaRPr sz="28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shutil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copytree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source_dir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destination_dir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8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f"Все содержимое из 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source_dir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2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скопировано в 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destination_dir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2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8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shutil</a:t>
            </a:r>
            <a:r>
              <a:rPr b="0" lang="en-US" sz="3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lang="en-US" sz="3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move</a:t>
            </a:r>
            <a:r>
              <a:rPr b="0" lang="en-US" sz="3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0" lang="en-US" sz="3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b="0" lang="en-US" sz="3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0" lang="en-US" sz="3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dst</a:t>
            </a:r>
            <a:r>
              <a:rPr b="0" lang="en-US" sz="3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b="0" sz="47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5" name="Google Shape;355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" name="Google Shape;356;p39"/>
          <p:cNvSpPr txBox="1"/>
          <p:nvPr>
            <p:ph idx="1" type="body"/>
          </p:nvPr>
        </p:nvSpPr>
        <p:spPr>
          <a:xfrm>
            <a:off x="184575" y="1711150"/>
            <a:ext cx="11905500" cy="48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</a:rPr>
              <a:t>Используется </a:t>
            </a:r>
            <a:r>
              <a:rPr lang="en-US" sz="2800">
                <a:solidFill>
                  <a:schemeClr val="dk2"/>
                </a:solidFill>
              </a:rPr>
              <a:t>для перемещения файла или папки из одного места в другое.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</a:rPr>
              <a:t>src: Это путь к файлу или папке, которую вы хотите переместить. Этот файл или папка должны существовать.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</a:rPr>
              <a:t>dst: Это путь, куда вы хотите переместить файл или папку. Если dst указывает на папку, то файл или папка src будет перемещена внутрь этой папки. 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</a:rPr>
              <a:t>Если dst указывает на путь с именем файла, 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</a:rPr>
              <a:t>и такого файла еще нет, src будет перемещен 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</a:rPr>
              <a:t>и переименован в соответствии с этим путем.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0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shutil</a:t>
            </a:r>
            <a:r>
              <a:rPr b="0" lang="en-US" sz="3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lang="en-US" sz="3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move</a:t>
            </a:r>
            <a:r>
              <a:rPr b="0" lang="en-US" sz="3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0" lang="en-US" sz="3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b="0" lang="en-US" sz="3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0" lang="en-US" sz="3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dst</a:t>
            </a:r>
            <a:r>
              <a:rPr b="0" lang="en-US" sz="3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b="0" sz="47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3" name="Google Shape;363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p40"/>
          <p:cNvSpPr txBox="1"/>
          <p:nvPr>
            <p:ph idx="1" type="body"/>
          </p:nvPr>
        </p:nvSpPr>
        <p:spPr>
          <a:xfrm>
            <a:off x="184575" y="1711150"/>
            <a:ext cx="11905500" cy="48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shutil</a:t>
            </a:r>
            <a:endParaRPr sz="28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source_file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"/path/to/source/file.txt"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destination_dir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"/path/to/destination"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endParaRPr i="1" sz="28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8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shutil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move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source_file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destination_dir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8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f"Файл 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source_file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перемещен в 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destination_dir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1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shutil</a:t>
            </a:r>
            <a:r>
              <a:rPr b="0" lang="en-US" sz="3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lang="en-US" sz="33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move</a:t>
            </a:r>
            <a:r>
              <a:rPr b="0" lang="en-US" sz="3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0" lang="en-US" sz="3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b="0" lang="en-US" sz="3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0" lang="en-US" sz="33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dst</a:t>
            </a:r>
            <a:r>
              <a:rPr b="0" lang="en-US" sz="3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b="0" sz="47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71" name="Google Shape;371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2" name="Google Shape;372;p41"/>
          <p:cNvSpPr txBox="1"/>
          <p:nvPr>
            <p:ph idx="1" type="body"/>
          </p:nvPr>
        </p:nvSpPr>
        <p:spPr>
          <a:xfrm>
            <a:off x="184575" y="1711150"/>
            <a:ext cx="11905500" cy="48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shutil</a:t>
            </a:r>
            <a:endParaRPr sz="28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source_file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"/path/to/source/file.txt"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destination_file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"/path/to/destination/newname.txt"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endParaRPr sz="28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shutil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move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source_file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destination_file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8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f"Файл 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source_file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2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перемещен и переименован в 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2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destination_file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2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2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8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