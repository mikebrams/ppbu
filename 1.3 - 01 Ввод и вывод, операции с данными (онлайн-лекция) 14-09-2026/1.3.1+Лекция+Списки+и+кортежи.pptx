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6858000" cx="12192000"/>
  <p:notesSz cx="6858000" cy="9144000"/>
  <p:embeddedFontLst>
    <p:embeddedFont>
      <p:font typeface="Gill Sans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6B0F24-1D89-4ACD-A360-2757176C8E5A}">
  <a:tblStyle styleId="{386B0F24-1D89-4ACD-A360-2757176C8E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illSans-regular.fntdata"/><Relationship Id="rId20" Type="http://schemas.openxmlformats.org/officeDocument/2006/relationships/slide" Target="slides/slide14.xml"/><Relationship Id="rId41" Type="http://schemas.openxmlformats.org/officeDocument/2006/relationships/font" Target="fonts/GillSans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39d1a30fc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a39d1a30f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</a:t>
            </a:r>
            <a:endParaRPr/>
          </a:p>
        </p:txBody>
      </p:sp>
      <p:sp>
        <p:nvSpPr>
          <p:cNvPr id="240" name="Google Shape;240;g2a39d1a30fc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7f41a37af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a7f41a37a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3 мин. На этой лекции познакомимся со списками и с кортежами.</a:t>
            </a:r>
            <a:endParaRPr/>
          </a:p>
        </p:txBody>
      </p:sp>
      <p:sp>
        <p:nvSpPr>
          <p:cNvPr id="248" name="Google Shape;248;g2a7f41a37af_0_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a7f41a37a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a7f41a37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3 мин. </a:t>
            </a:r>
            <a:endParaRPr/>
          </a:p>
        </p:txBody>
      </p:sp>
      <p:sp>
        <p:nvSpPr>
          <p:cNvPr id="256" name="Google Shape;256;g2a7f41a37af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425927ac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a425927a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3 мин. </a:t>
            </a:r>
            <a:endParaRPr/>
          </a:p>
        </p:txBody>
      </p:sp>
      <p:sp>
        <p:nvSpPr>
          <p:cNvPr id="264" name="Google Shape;264;g2a425927aca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ed6c2e7ddd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ed6c2e7dd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3 мин. </a:t>
            </a:r>
            <a:endParaRPr/>
          </a:p>
        </p:txBody>
      </p:sp>
      <p:sp>
        <p:nvSpPr>
          <p:cNvPr id="272" name="Google Shape;272;g1ed6c2e7ddd_0_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a609219985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a60921998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3 мин. </a:t>
            </a:r>
            <a:endParaRPr/>
          </a:p>
        </p:txBody>
      </p:sp>
      <p:sp>
        <p:nvSpPr>
          <p:cNvPr id="280" name="Google Shape;280;g2a609219985_0_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a602f32ec8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a602f32ec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3 мин. </a:t>
            </a:r>
            <a:endParaRPr/>
          </a:p>
        </p:txBody>
      </p:sp>
      <p:sp>
        <p:nvSpPr>
          <p:cNvPr id="288" name="Google Shape;288;g2a602f32ec8_0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a7f41a37af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a7f41a37a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3 мин. </a:t>
            </a:r>
            <a:endParaRPr/>
          </a:p>
        </p:txBody>
      </p:sp>
      <p:sp>
        <p:nvSpPr>
          <p:cNvPr id="296" name="Google Shape;296;g2a7f41a37af_0_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a7f41a37af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a7f41a37a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3 мин. </a:t>
            </a:r>
            <a:endParaRPr/>
          </a:p>
        </p:txBody>
      </p:sp>
      <p:sp>
        <p:nvSpPr>
          <p:cNvPr id="304" name="Google Shape;304;g2a7f41a37af_0_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ed6c2e7ddd_0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ed6c2e7dd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3мин. Рассказать что грамотнее использовать extend() так как он </a:t>
            </a:r>
            <a:r>
              <a:rPr lang="en-US"/>
              <a:t>работает</a:t>
            </a:r>
            <a:r>
              <a:rPr lang="en-US"/>
              <a:t> быстрее чем конкатенация</a:t>
            </a:r>
            <a:endParaRPr/>
          </a:p>
        </p:txBody>
      </p:sp>
      <p:sp>
        <p:nvSpPr>
          <p:cNvPr id="312" name="Google Shape;312;g1ed6c2e7ddd_0_7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ed6c2e7ddd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ed6c2e7dd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3 мин. </a:t>
            </a:r>
            <a:endParaRPr/>
          </a:p>
        </p:txBody>
      </p:sp>
      <p:sp>
        <p:nvSpPr>
          <p:cNvPr id="320" name="Google Shape;320;g1ed6c2e7ddd_0_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ed6c2e7ddd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ed6c2e7dd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3 мин. </a:t>
            </a:r>
            <a:endParaRPr/>
          </a:p>
        </p:txBody>
      </p:sp>
      <p:sp>
        <p:nvSpPr>
          <p:cNvPr id="328" name="Google Shape;328;g1ed6c2e7ddd_0_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ed6c2e7ddd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1ed6c2e7dd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3 мин. </a:t>
            </a:r>
            <a:endParaRPr/>
          </a:p>
        </p:txBody>
      </p:sp>
      <p:sp>
        <p:nvSpPr>
          <p:cNvPr id="336" name="Google Shape;336;g1ed6c2e7ddd_0_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ed6c2e7ddd_0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ed6c2e7dd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3 мин. </a:t>
            </a:r>
            <a:endParaRPr/>
          </a:p>
        </p:txBody>
      </p:sp>
      <p:sp>
        <p:nvSpPr>
          <p:cNvPr id="344" name="Google Shape;344;g1ed6c2e7ddd_0_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ed6c2e7ddd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ed6c2e7dd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3 мин. </a:t>
            </a:r>
            <a:endParaRPr/>
          </a:p>
        </p:txBody>
      </p:sp>
      <p:sp>
        <p:nvSpPr>
          <p:cNvPr id="352" name="Google Shape;352;g1ed6c2e7ddd_0_5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ed6c2e7ddd_0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ed6c2e7dd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3 мин. </a:t>
            </a:r>
            <a:endParaRPr/>
          </a:p>
        </p:txBody>
      </p:sp>
      <p:sp>
        <p:nvSpPr>
          <p:cNvPr id="360" name="Google Shape;360;g1ed6c2e7ddd_0_6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a7f41a37af_0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a7f41a37a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 Два способа инвертирования списка.</a:t>
            </a:r>
            <a:endParaRPr/>
          </a:p>
        </p:txBody>
      </p:sp>
      <p:sp>
        <p:nvSpPr>
          <p:cNvPr id="368" name="Google Shape;368;g2a7f41a37af_0_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a7f41a37af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a7f41a37a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Когда ты вызываешь метод reverse() для списка в Python, он переворачивает порядок элементов в списке,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но возвращает None, чтобы показать, что метод завершился без создания нового списка.</a:t>
            </a:r>
            <a:endParaRPr/>
          </a:p>
        </p:txBody>
      </p:sp>
      <p:sp>
        <p:nvSpPr>
          <p:cNvPr id="376" name="Google Shape;376;g2a7f41a37af_0_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a7f41a37af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a7f41a37a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sort() работает аналогично методу reverse() для списка в Python, он сортирует элементы в списке, но возвращает None, чтобы показать, что метод завершился без создания нового списка.</a:t>
            </a:r>
            <a:endParaRPr/>
          </a:p>
        </p:txBody>
      </p:sp>
      <p:sp>
        <p:nvSpPr>
          <p:cNvPr id="384" name="Google Shape;384;g2a7f41a37af_0_5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a7f41a37af_0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a7f41a37a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Обратите внимание! </a:t>
            </a:r>
            <a:r>
              <a:rPr lang="en-US"/>
              <a:t>Сортировка</a:t>
            </a:r>
            <a:r>
              <a:rPr lang="en-US"/>
              <a:t> производится по алфавиту.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Сортирует не только по первой букве, учитываются и вторая и последующие буквы.</a:t>
            </a:r>
            <a:endParaRPr/>
          </a:p>
        </p:txBody>
      </p:sp>
      <p:sp>
        <p:nvSpPr>
          <p:cNvPr id="392" name="Google Shape;392;g2a7f41a37af_0_7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a7f41a37af_0_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a7f41a37af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По умолчанию разделитель - пробел</a:t>
            </a:r>
            <a:endParaRPr/>
          </a:p>
        </p:txBody>
      </p:sp>
      <p:sp>
        <p:nvSpPr>
          <p:cNvPr id="400" name="Google Shape;400;g2a7f41a37af_0_8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a7f41a37af_0_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2a7f41a37af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 В этом примере разделитель указан в скобках ", " Это запятая и пробел.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Длинный текст можно </a:t>
            </a:r>
            <a:r>
              <a:rPr lang="en-US"/>
              <a:t>поделить</a:t>
            </a:r>
            <a:r>
              <a:rPr lang="en-US"/>
              <a:t> на отдельные предложения, если поставить разделителем точку.</a:t>
            </a:r>
            <a:endParaRPr/>
          </a:p>
        </p:txBody>
      </p:sp>
      <p:sp>
        <p:nvSpPr>
          <p:cNvPr id="408" name="Google Shape;408;g2a7f41a37af_0_10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a7f41a37af_0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a7f41a37af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 Обратите внимание! Пробел — это тоже символ.</a:t>
            </a:r>
            <a:endParaRPr/>
          </a:p>
        </p:txBody>
      </p:sp>
      <p:sp>
        <p:nvSpPr>
          <p:cNvPr id="416" name="Google Shape;416;g2a7f41a37af_0_1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a7f41a37af_0_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a7f41a37af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Если после похода в магазин вам нужно очистить список покупок, то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нужно использовать метод clear()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Придумайте, в каких случаях может понадобится очистка списка?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Очистка списка выполненных дел.</a:t>
            </a:r>
            <a:endParaRPr/>
          </a:p>
        </p:txBody>
      </p:sp>
      <p:sp>
        <p:nvSpPr>
          <p:cNvPr id="424" name="Google Shape;424;g2a7f41a37af_0_9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a602f32ec8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a602f32ec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 Мы ранее перебирали в цикле значения диапазонов.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Оказывается можно перебирать и элементы списков.</a:t>
            </a:r>
            <a:endParaRPr/>
          </a:p>
        </p:txBody>
      </p:sp>
      <p:sp>
        <p:nvSpPr>
          <p:cNvPr id="432" name="Google Shape;432;g2a602f32ec8_0_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a7f41a37af_0_1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a7f41a37af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Кортеж — список неизменяемых элементов.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Например летние месяцы не могут изменить названия.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Вопрос — приведите примеры неизменяемых данных.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алфавит, числа от 0 до 9, названия месяцев, дней недели, количество часов в сутках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названия городов? имена людей? названия сайтов? Обсудите это.</a:t>
            </a:r>
            <a:endParaRPr/>
          </a:p>
        </p:txBody>
      </p:sp>
      <p:sp>
        <p:nvSpPr>
          <p:cNvPr id="440" name="Google Shape;440;g2a7f41a37af_0_1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a7f41a37af_0_1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2a7f41a37a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Так как кортеж неизменяем, то у него отсутствуют некоторые методы</a:t>
            </a:r>
            <a:endParaRPr/>
          </a:p>
        </p:txBody>
      </p:sp>
      <p:sp>
        <p:nvSpPr>
          <p:cNvPr id="448" name="Google Shape;448;g2a7f41a37af_0_1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a7f41a37af_0_1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2a7f41a37af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</a:t>
            </a:r>
            <a:endParaRPr/>
          </a:p>
        </p:txBody>
      </p:sp>
      <p:sp>
        <p:nvSpPr>
          <p:cNvPr id="456" name="Google Shape;456;g2a7f41a37af_0_1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a7f41a37af_0_1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a7f41a37af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в кортеже три единицы и одна двойка</a:t>
            </a:r>
            <a:endParaRPr/>
          </a:p>
        </p:txBody>
      </p:sp>
      <p:sp>
        <p:nvSpPr>
          <p:cNvPr id="464" name="Google Shape;464;g2a7f41a37af_0_1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a7f41a37af_0_1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2a7f41a37af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мин. index(1,3) Первое число - которое ищем, второе число - с какого индекса начинаем поиск.</a:t>
            </a:r>
            <a:endParaRPr/>
          </a:p>
        </p:txBody>
      </p:sp>
      <p:sp>
        <p:nvSpPr>
          <p:cNvPr id="472" name="Google Shape;472;g2a7f41a37af_0_15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a3d54f7398_0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2a3d54f7398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2a3d54f7398_0_1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Списки и кортежи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Контейнерные типы данных</a:t>
            </a:r>
            <a:endParaRPr/>
          </a:p>
        </p:txBody>
      </p:sp>
      <p:sp>
        <p:nvSpPr>
          <p:cNvPr id="243" name="Google Shape;243;p25"/>
          <p:cNvSpPr txBox="1"/>
          <p:nvPr>
            <p:ph idx="1" type="body"/>
          </p:nvPr>
        </p:nvSpPr>
        <p:spPr>
          <a:xfrm>
            <a:off x="182150" y="1603325"/>
            <a:ext cx="9145200" cy="525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-US"/>
              <a:t>В Python контейнерные типы данных представляют собой структуры, которые могут содержать коллекции других объектов. Они используются для хранения и организации данных в программе.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-US"/>
              <a:t>1. Списки (Lists):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Списки представляют упорядоченные коллекции элементов. Они могут содержать объекты разных типов и могут изменяться после создания.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2. Кортежи (Tuples):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Кортежи также представляют упорядоченные коллекции элементов, но они неизменяемы после создания.</a:t>
            </a:r>
            <a:endParaRPr/>
          </a:p>
        </p:txBody>
      </p:sp>
      <p:sp>
        <p:nvSpPr>
          <p:cNvPr id="244" name="Google Shape;244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Контейнерные типы данных</a:t>
            </a:r>
            <a:endParaRPr/>
          </a:p>
        </p:txBody>
      </p:sp>
      <p:sp>
        <p:nvSpPr>
          <p:cNvPr id="251" name="Google Shape;251;p26"/>
          <p:cNvSpPr txBox="1"/>
          <p:nvPr>
            <p:ph idx="1" type="body"/>
          </p:nvPr>
        </p:nvSpPr>
        <p:spPr>
          <a:xfrm>
            <a:off x="182150" y="1603325"/>
            <a:ext cx="9145200" cy="525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3. Множества (Sets):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Множества содержат уникальные элементы и используются для операций над множествами (объединение, пересечение, разность и т. д.).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4. Словари (Dictionaries):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Словари представляют коллекции пар ключ-значение и используются для хранения данных в виде ассоциативных массивов.</a:t>
            </a:r>
            <a:endParaRPr/>
          </a:p>
        </p:txBody>
      </p:sp>
      <p:sp>
        <p:nvSpPr>
          <p:cNvPr id="252" name="Google Shape;252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Список</a:t>
            </a:r>
            <a:endParaRPr/>
          </a:p>
        </p:txBody>
      </p:sp>
      <p:sp>
        <p:nvSpPr>
          <p:cNvPr id="259" name="Google Shape;259;p27"/>
          <p:cNvSpPr txBox="1"/>
          <p:nvPr>
            <p:ph idx="1" type="body"/>
          </p:nvPr>
        </p:nvSpPr>
        <p:spPr>
          <a:xfrm>
            <a:off x="284500" y="1876275"/>
            <a:ext cx="9145200" cy="484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В Python список (list) – это упорядоченная коллекция элементов, которая может содержать объекты разных типов данных, такие как числа, строки, другие списки и т. д. Список создается с использованием квадратных скобок [] и элементы списка разделяются запятыми.</a:t>
            </a:r>
            <a:endParaRPr/>
          </a:p>
        </p:txBody>
      </p:sp>
      <p:sp>
        <p:nvSpPr>
          <p:cNvPr id="260" name="Google Shape;260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Примеры списков</a:t>
            </a:r>
            <a:endParaRPr/>
          </a:p>
        </p:txBody>
      </p:sp>
      <p:sp>
        <p:nvSpPr>
          <p:cNvPr id="267" name="Google Shape;267;p28"/>
          <p:cNvSpPr txBox="1"/>
          <p:nvPr>
            <p:ph idx="1" type="body"/>
          </p:nvPr>
        </p:nvSpPr>
        <p:spPr>
          <a:xfrm>
            <a:off x="172600" y="1412988"/>
            <a:ext cx="11106600" cy="479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 = [1, 2, 3, 4, 5]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s2 = ['apple', 'banana', 'orange']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s3 = ['a', 'b', 'c', 'w', 'z']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s4 = [True, False]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s5 = [1, 2, 3, 'apple', 'banana', True]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s6 = [[1, 2, 3], ['apple', 'banana']]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8" name="Google Shape;268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Основные особенности списков</a:t>
            </a:r>
            <a:endParaRPr/>
          </a:p>
        </p:txBody>
      </p:sp>
      <p:sp>
        <p:nvSpPr>
          <p:cNvPr id="275" name="Google Shape;275;p29"/>
          <p:cNvSpPr txBox="1"/>
          <p:nvPr>
            <p:ph idx="1" type="body"/>
          </p:nvPr>
        </p:nvSpPr>
        <p:spPr>
          <a:xfrm>
            <a:off x="416075" y="1557350"/>
            <a:ext cx="9233100" cy="530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44137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3622"/>
              <a:t>Элементы в списке упорядочены по индексам, начиная с 0. То есть, элементы хранятся в определенном порядке.</a:t>
            </a:r>
            <a:endParaRPr sz="3622"/>
          </a:p>
          <a:p>
            <a:pPr indent="-4413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3622"/>
              <a:t>Список можно изменять после создания. Это означает, что можно добавлять, удалять или изменять элементы в списке.</a:t>
            </a:r>
            <a:endParaRPr sz="3622"/>
          </a:p>
          <a:p>
            <a:pPr indent="-4413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3622"/>
              <a:t>Список может содержать элементы разных типов данных внутри одного списка.</a:t>
            </a:r>
            <a:endParaRPr/>
          </a:p>
        </p:txBody>
      </p:sp>
      <p:sp>
        <p:nvSpPr>
          <p:cNvPr id="276" name="Google Shape;276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 txBox="1"/>
          <p:nvPr>
            <p:ph type="title"/>
          </p:nvPr>
        </p:nvSpPr>
        <p:spPr>
          <a:xfrm>
            <a:off x="2925275" y="136525"/>
            <a:ext cx="91782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Получение элемента по индексу</a:t>
            </a:r>
            <a:endParaRPr/>
          </a:p>
        </p:txBody>
      </p:sp>
      <p:sp>
        <p:nvSpPr>
          <p:cNvPr id="283" name="Google Shape;283;p30"/>
          <p:cNvSpPr txBox="1"/>
          <p:nvPr>
            <p:ph idx="1" type="body"/>
          </p:nvPr>
        </p:nvSpPr>
        <p:spPr>
          <a:xfrm>
            <a:off x="0" y="1482302"/>
            <a:ext cx="11833500" cy="537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 = [1, 2, 3, 4, 5]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print(s1[0]) # Выведет 1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s3 = ['a', 'b', 'c', 'w', 'z']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print(s3[3]) # Выведет w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s6 = [[1, 2, 3], ['apple', 'banana']]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print(s6[0]) # Выведет [1, 2, 3]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print(s6[0][0]) # Выведет 1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4" name="Google Shape;284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/>
          <p:nvPr>
            <p:ph type="title"/>
          </p:nvPr>
        </p:nvSpPr>
        <p:spPr>
          <a:xfrm>
            <a:off x="2925275" y="136525"/>
            <a:ext cx="91878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Добавление элемента в конец списка</a:t>
            </a:r>
            <a:endParaRPr sz="4000"/>
          </a:p>
        </p:txBody>
      </p:sp>
      <p:sp>
        <p:nvSpPr>
          <p:cNvPr id="291" name="Google Shape;291;p31"/>
          <p:cNvSpPr txBox="1"/>
          <p:nvPr>
            <p:ph idx="1" type="body"/>
          </p:nvPr>
        </p:nvSpPr>
        <p:spPr>
          <a:xfrm>
            <a:off x="92850" y="1515475"/>
            <a:ext cx="12006300" cy="520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 = [1, 2, 3, 4, 5]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s1.append(6)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print(s1) # Выведет [1, 2, 3, 4, 5, 6]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s3 = ['a', 'b', 'c']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s3.append('f')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print(s3) # Выведет ['a', 'b', 'c', 'f']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2" name="Google Shape;292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"/>
          <p:cNvSpPr txBox="1"/>
          <p:nvPr>
            <p:ph type="title"/>
          </p:nvPr>
        </p:nvSpPr>
        <p:spPr>
          <a:xfrm>
            <a:off x="2925275" y="136525"/>
            <a:ext cx="91878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Вставка элемента в середину списка</a:t>
            </a:r>
            <a:endParaRPr sz="4000"/>
          </a:p>
        </p:txBody>
      </p:sp>
      <p:sp>
        <p:nvSpPr>
          <p:cNvPr id="299" name="Google Shape;299;p32"/>
          <p:cNvSpPr txBox="1"/>
          <p:nvPr>
            <p:ph idx="1" type="body"/>
          </p:nvPr>
        </p:nvSpPr>
        <p:spPr>
          <a:xfrm>
            <a:off x="92850" y="1515475"/>
            <a:ext cx="12006300" cy="520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 = [2, 4, 8, 16, 32]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s1.insert(1, 10)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print(s1)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# Выведет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[2, 10, 4, 8, 16, 32]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s2 = [2, 4, 8, 16, 32]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s2.insert(2, [10, 20])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print(s2)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# Выведет [2, 4, [10, 20], 8, 16, 32]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0" name="Google Shape;300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3"/>
          <p:cNvSpPr txBox="1"/>
          <p:nvPr>
            <p:ph type="title"/>
          </p:nvPr>
        </p:nvSpPr>
        <p:spPr>
          <a:xfrm>
            <a:off x="2925275" y="136525"/>
            <a:ext cx="91878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Добавление списка в конец списка</a:t>
            </a:r>
            <a:endParaRPr sz="4000"/>
          </a:p>
        </p:txBody>
      </p:sp>
      <p:sp>
        <p:nvSpPr>
          <p:cNvPr id="307" name="Google Shape;307;p33"/>
          <p:cNvSpPr txBox="1"/>
          <p:nvPr>
            <p:ph idx="1" type="body"/>
          </p:nvPr>
        </p:nvSpPr>
        <p:spPr>
          <a:xfrm>
            <a:off x="394150" y="1773750"/>
            <a:ext cx="10638900" cy="428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 = [1, 2, 3]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s2 = [4, 5, 6]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s1.extend(s2)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print(s1)  # Вывод: [1, 2, 3, 4, 5, 6]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8" name="Google Shape;308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"/>
          <p:cNvSpPr txBox="1"/>
          <p:nvPr>
            <p:ph type="title"/>
          </p:nvPr>
        </p:nvSpPr>
        <p:spPr>
          <a:xfrm>
            <a:off x="2925275" y="136525"/>
            <a:ext cx="91878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Сложение и умножение списков</a:t>
            </a:r>
            <a:endParaRPr sz="4000"/>
          </a:p>
        </p:txBody>
      </p:sp>
      <p:sp>
        <p:nvSpPr>
          <p:cNvPr id="315" name="Google Shape;315;p34"/>
          <p:cNvSpPr txBox="1"/>
          <p:nvPr>
            <p:ph idx="1" type="body"/>
          </p:nvPr>
        </p:nvSpPr>
        <p:spPr>
          <a:xfrm>
            <a:off x="92850" y="1515475"/>
            <a:ext cx="12006300" cy="520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 = [1, 2, 3]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#Сложение списков (склеивание)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s2 = [4, 5, 6] #правильно называть </a:t>
            </a:r>
            <a:r>
              <a:rPr i="1" lang="en-US" sz="3000">
                <a:latin typeface="Courier New"/>
                <a:ea typeface="Courier New"/>
                <a:cs typeface="Courier New"/>
                <a:sym typeface="Courier New"/>
              </a:rPr>
              <a:t>конкатенация</a:t>
            </a:r>
            <a:endParaRPr i="1"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print(s1 + s2)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# Выведет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[1, 2, 3, 4, 5, 6]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 = [1, 2, 3]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print(s1 * 2) 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# Выведет [1, 2, 3, 1, 2, 3]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6" name="Google Shape;316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"/>
          <p:cNvSpPr txBox="1"/>
          <p:nvPr>
            <p:ph type="title"/>
          </p:nvPr>
        </p:nvSpPr>
        <p:spPr>
          <a:xfrm>
            <a:off x="2925275" y="136525"/>
            <a:ext cx="91878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Удаление </a:t>
            </a:r>
            <a:r>
              <a:rPr lang="en-US" sz="4000"/>
              <a:t>элемента по значению</a:t>
            </a:r>
            <a:endParaRPr sz="4000"/>
          </a:p>
        </p:txBody>
      </p:sp>
      <p:sp>
        <p:nvSpPr>
          <p:cNvPr id="323" name="Google Shape;323;p35"/>
          <p:cNvSpPr txBox="1"/>
          <p:nvPr>
            <p:ph idx="1" type="body"/>
          </p:nvPr>
        </p:nvSpPr>
        <p:spPr>
          <a:xfrm>
            <a:off x="92850" y="1515475"/>
            <a:ext cx="12006300" cy="520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 = [1, 2, 3, 4, 5]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.remove(1)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print(s1) # Выведет [2, 3, 4, 5]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s2 = ['apple', 'banana', 'orange']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s2.remove('banana')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print(s2) # Выведет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['apple', 'orange']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4" name="Google Shape;324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 txBox="1"/>
          <p:nvPr>
            <p:ph type="title"/>
          </p:nvPr>
        </p:nvSpPr>
        <p:spPr>
          <a:xfrm>
            <a:off x="2925275" y="136525"/>
            <a:ext cx="91878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Изменение</a:t>
            </a:r>
            <a:r>
              <a:rPr lang="en-US" sz="4000"/>
              <a:t> элемента списка</a:t>
            </a:r>
            <a:endParaRPr sz="4000"/>
          </a:p>
        </p:txBody>
      </p:sp>
      <p:sp>
        <p:nvSpPr>
          <p:cNvPr id="331" name="Google Shape;331;p36"/>
          <p:cNvSpPr txBox="1"/>
          <p:nvPr>
            <p:ph idx="1" type="body"/>
          </p:nvPr>
        </p:nvSpPr>
        <p:spPr>
          <a:xfrm>
            <a:off x="92850" y="1515475"/>
            <a:ext cx="12006300" cy="520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 = [1, 2, 3, 4, 5]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s1[2] = 8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print(s1) # Выведет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[1, 2, 8, 4, 5]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s2 = ['a', 'b', 'f']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s2[0] =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'l'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print(s2) # Выведет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['l', 'b', 'f']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2" name="Google Shape;332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"/>
          <p:cNvSpPr txBox="1"/>
          <p:nvPr>
            <p:ph type="title"/>
          </p:nvPr>
        </p:nvSpPr>
        <p:spPr>
          <a:xfrm>
            <a:off x="2925275" y="136525"/>
            <a:ext cx="91878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Срезы</a:t>
            </a:r>
            <a:endParaRPr sz="4000"/>
          </a:p>
        </p:txBody>
      </p:sp>
      <p:sp>
        <p:nvSpPr>
          <p:cNvPr id="339" name="Google Shape;339;p37"/>
          <p:cNvSpPr txBox="1"/>
          <p:nvPr>
            <p:ph idx="1" type="body"/>
          </p:nvPr>
        </p:nvSpPr>
        <p:spPr>
          <a:xfrm>
            <a:off x="92850" y="1515475"/>
            <a:ext cx="12006300" cy="520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 = [10, 20, 30, 40, 50]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s1[1:3]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) # Выведет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[20, 30]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s2 = ['a', 33, 'b', 45, 'f']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print(s2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[:3]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) # Выведет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['a', 33, 'b']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s3 = ['w', 38, 'z', 49, 'f']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print(s3[-2:]) # Выведет [49, 'f']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0" name="Google Shape;340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8"/>
          <p:cNvSpPr txBox="1"/>
          <p:nvPr>
            <p:ph type="title"/>
          </p:nvPr>
        </p:nvSpPr>
        <p:spPr>
          <a:xfrm>
            <a:off x="2925275" y="136525"/>
            <a:ext cx="91878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Замена нескольких элементов</a:t>
            </a:r>
            <a:endParaRPr sz="4000"/>
          </a:p>
        </p:txBody>
      </p:sp>
      <p:sp>
        <p:nvSpPr>
          <p:cNvPr id="347" name="Google Shape;347;p38"/>
          <p:cNvSpPr txBox="1"/>
          <p:nvPr>
            <p:ph idx="1" type="body"/>
          </p:nvPr>
        </p:nvSpPr>
        <p:spPr>
          <a:xfrm>
            <a:off x="92850" y="1515475"/>
            <a:ext cx="12006300" cy="520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 = [2, 4, 8, 16, 32]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s1[:2] = [22, 44]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print(s1)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# Выведет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[22, 44, 8, 16, 32]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s2 = [12, 33, 'w', 4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, 'c'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s2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[-2:] = ['t2', 'q2']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print(s2)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# Выведет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[12, 33, 'w', 't2', 'q2']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8" name="Google Shape;348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9"/>
          <p:cNvSpPr txBox="1"/>
          <p:nvPr>
            <p:ph type="title"/>
          </p:nvPr>
        </p:nvSpPr>
        <p:spPr>
          <a:xfrm>
            <a:off x="2925275" y="136525"/>
            <a:ext cx="91878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Вставляем список</a:t>
            </a:r>
            <a:endParaRPr sz="4000"/>
          </a:p>
        </p:txBody>
      </p:sp>
      <p:sp>
        <p:nvSpPr>
          <p:cNvPr id="355" name="Google Shape;355;p39"/>
          <p:cNvSpPr txBox="1"/>
          <p:nvPr>
            <p:ph idx="1" type="body"/>
          </p:nvPr>
        </p:nvSpPr>
        <p:spPr>
          <a:xfrm>
            <a:off x="92850" y="1515475"/>
            <a:ext cx="12006300" cy="520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 = [2, 4, 8, 16, 32]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s1[1:1] = [5, 15]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print(s1) # Выведет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[2, 5, 15, 4, 8, 16, 32]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s2 = [8, 1, 'w', 4, 2]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s2[-2:-2] = ['t', 'q']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print(s2)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# Выведет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[8, 1, 'w', 't', 'q', 4, 2]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6" name="Google Shape;356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0"/>
          <p:cNvSpPr txBox="1"/>
          <p:nvPr>
            <p:ph type="title"/>
          </p:nvPr>
        </p:nvSpPr>
        <p:spPr>
          <a:xfrm>
            <a:off x="2925275" y="136525"/>
            <a:ext cx="91878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Выбор элементов с шагом</a:t>
            </a:r>
            <a:endParaRPr sz="4000"/>
          </a:p>
        </p:txBody>
      </p:sp>
      <p:sp>
        <p:nvSpPr>
          <p:cNvPr id="363" name="Google Shape;363;p40"/>
          <p:cNvSpPr txBox="1"/>
          <p:nvPr>
            <p:ph idx="1" type="body"/>
          </p:nvPr>
        </p:nvSpPr>
        <p:spPr>
          <a:xfrm>
            <a:off x="92850" y="1515475"/>
            <a:ext cx="12006300" cy="520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 = [2, 4, 8, 16, 32, 64, 128]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s1[::2]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) # Выведет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[2, 8, 32, 128]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s2 =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[8, 1, 'w', 't', 'q', 4, 2, 'c', 0]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s2[2::3]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) # Выведет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['w', 4, 0]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s2 = [8, 1, 'w', 't', 'q', 4, 2, 'c', 0]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print(s2[-5::-1]) 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# Выведет ['q', 't', 'w', 1, 8]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4" name="Google Shape;364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1"/>
          <p:cNvSpPr txBox="1"/>
          <p:nvPr>
            <p:ph type="title"/>
          </p:nvPr>
        </p:nvSpPr>
        <p:spPr>
          <a:xfrm>
            <a:off x="2925275" y="136525"/>
            <a:ext cx="91878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Инвертирование списка</a:t>
            </a:r>
            <a:endParaRPr sz="4000"/>
          </a:p>
        </p:txBody>
      </p:sp>
      <p:sp>
        <p:nvSpPr>
          <p:cNvPr id="371" name="Google Shape;371;p41"/>
          <p:cNvSpPr txBox="1"/>
          <p:nvPr>
            <p:ph idx="1" type="body"/>
          </p:nvPr>
        </p:nvSpPr>
        <p:spPr>
          <a:xfrm>
            <a:off x="92850" y="1515475"/>
            <a:ext cx="12006300" cy="520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 = [2, 4, 8, 16, 32, 64]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print(s1[::-1])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# Выведет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[64, 32, 16, 8, 4, 2]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 = [2, 4, 8, 16, 32, 64]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s1.reverse()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print(s1)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# Выведет [64, 32, 16, 8, 4, 2]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2" name="Google Shape;372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"/>
          <p:cNvSpPr txBox="1"/>
          <p:nvPr>
            <p:ph type="title"/>
          </p:nvPr>
        </p:nvSpPr>
        <p:spPr>
          <a:xfrm>
            <a:off x="2925275" y="136525"/>
            <a:ext cx="91878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Особенность reverse()</a:t>
            </a:r>
            <a:endParaRPr sz="4000"/>
          </a:p>
        </p:txBody>
      </p:sp>
      <p:sp>
        <p:nvSpPr>
          <p:cNvPr id="379" name="Google Shape;379;p42"/>
          <p:cNvSpPr txBox="1"/>
          <p:nvPr>
            <p:ph idx="1" type="body"/>
          </p:nvPr>
        </p:nvSpPr>
        <p:spPr>
          <a:xfrm>
            <a:off x="92850" y="1515475"/>
            <a:ext cx="12006300" cy="520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/>
              <a:t>Когда ты вызываешь метод reverse() для списка в Python, он переворачивает порядок элементов в списке, но возвращает None, чтобы показать, что метод завершился без создания нового списка.</a:t>
            </a:r>
            <a:endParaRPr sz="3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 = [1, 2, 3, 4]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s2 = s1.reverse()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print(s2) # Выведет: None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print(s1) # Выведет: [4, 3, 2, 1]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0" name="Google Shape;380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3"/>
          <p:cNvSpPr txBox="1"/>
          <p:nvPr>
            <p:ph type="title"/>
          </p:nvPr>
        </p:nvSpPr>
        <p:spPr>
          <a:xfrm>
            <a:off x="2925275" y="136525"/>
            <a:ext cx="91878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Сортировка списка</a:t>
            </a:r>
            <a:endParaRPr sz="4000"/>
          </a:p>
        </p:txBody>
      </p:sp>
      <p:sp>
        <p:nvSpPr>
          <p:cNvPr id="387" name="Google Shape;387;p43"/>
          <p:cNvSpPr txBox="1"/>
          <p:nvPr>
            <p:ph idx="1" type="body"/>
          </p:nvPr>
        </p:nvSpPr>
        <p:spPr>
          <a:xfrm>
            <a:off x="92850" y="1515475"/>
            <a:ext cx="12006300" cy="520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 = [2, 64, 8, 4, 32, 16]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s1.sort()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print(s1)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# Выведет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[2, 4, 8, 16, 32, 64]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 = [3, 2, 1]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s2 = s1.sort()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print(s1)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# Выведет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[1, 2, 3]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print(s2) </a:t>
            </a:r>
            <a:r>
              <a:rPr lang="en-US" sz="3000">
                <a:solidFill>
                  <a:srgbClr val="DED9E5"/>
                </a:solidFill>
                <a:latin typeface="Courier New"/>
                <a:ea typeface="Courier New"/>
                <a:cs typeface="Courier New"/>
                <a:sym typeface="Courier New"/>
              </a:rPr>
              <a:t># Выведет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8" name="Google Shape;388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4"/>
          <p:cNvSpPr txBox="1"/>
          <p:nvPr>
            <p:ph type="title"/>
          </p:nvPr>
        </p:nvSpPr>
        <p:spPr>
          <a:xfrm>
            <a:off x="2925275" y="136525"/>
            <a:ext cx="91878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Сортировка списка с текстом</a:t>
            </a:r>
            <a:endParaRPr sz="4000"/>
          </a:p>
        </p:txBody>
      </p:sp>
      <p:sp>
        <p:nvSpPr>
          <p:cNvPr id="395" name="Google Shape;395;p44"/>
          <p:cNvSpPr txBox="1"/>
          <p:nvPr>
            <p:ph idx="1" type="body"/>
          </p:nvPr>
        </p:nvSpPr>
        <p:spPr>
          <a:xfrm>
            <a:off x="92850" y="1515475"/>
            <a:ext cx="12006300" cy="520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 = ['в', 'б', 'а']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s1.sort()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print(s1)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# Выведет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['а', 'б', 'в']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 = ['машу', 'мама', 'мыла', 'мылом']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s1.sort()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print(s1)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# ['мама', 'машу', 'мыла', 'мылом']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6" name="Google Shape;396;p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5"/>
          <p:cNvSpPr txBox="1"/>
          <p:nvPr>
            <p:ph type="title"/>
          </p:nvPr>
        </p:nvSpPr>
        <p:spPr>
          <a:xfrm>
            <a:off x="2925275" y="136525"/>
            <a:ext cx="91878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Превращение строки в список слов</a:t>
            </a:r>
            <a:endParaRPr sz="4000"/>
          </a:p>
        </p:txBody>
      </p:sp>
      <p:sp>
        <p:nvSpPr>
          <p:cNvPr id="403" name="Google Shape;403;p45"/>
          <p:cNvSpPr txBox="1"/>
          <p:nvPr>
            <p:ph idx="1" type="body"/>
          </p:nvPr>
        </p:nvSpPr>
        <p:spPr>
          <a:xfrm>
            <a:off x="92850" y="1515475"/>
            <a:ext cx="12006300" cy="520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 = "Буря мглою небо кроет"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s2 = s1.split() #По умолчанию разделитель - пробел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print(s2)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# Выведет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['Буря', 'мглою', 'небо', 'кроет']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4" name="Google Shape;404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title"/>
          </p:nvPr>
        </p:nvSpPr>
        <p:spPr>
          <a:xfrm>
            <a:off x="2925275" y="136525"/>
            <a:ext cx="91878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Превращение строки в список слов</a:t>
            </a:r>
            <a:endParaRPr sz="4000"/>
          </a:p>
        </p:txBody>
      </p:sp>
      <p:sp>
        <p:nvSpPr>
          <p:cNvPr id="411" name="Google Shape;411;p46"/>
          <p:cNvSpPr txBox="1"/>
          <p:nvPr>
            <p:ph idx="1" type="body"/>
          </p:nvPr>
        </p:nvSpPr>
        <p:spPr>
          <a:xfrm>
            <a:off x="92850" y="1515475"/>
            <a:ext cx="12006300" cy="520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 = "Щи, каша, репа, горох"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s2 = s1.split(", ")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print(s2)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# Выведет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['Щи', 'каша', 'репа', 'горох']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2" name="Google Shape;412;p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7"/>
          <p:cNvSpPr txBox="1"/>
          <p:nvPr>
            <p:ph type="title"/>
          </p:nvPr>
        </p:nvSpPr>
        <p:spPr>
          <a:xfrm>
            <a:off x="2925275" y="136525"/>
            <a:ext cx="91878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Превращение строки в список символов</a:t>
            </a:r>
            <a:endParaRPr sz="4000"/>
          </a:p>
        </p:txBody>
      </p:sp>
      <p:sp>
        <p:nvSpPr>
          <p:cNvPr id="419" name="Google Shape;419;p47"/>
          <p:cNvSpPr txBox="1"/>
          <p:nvPr>
            <p:ph idx="1" type="body"/>
          </p:nvPr>
        </p:nvSpPr>
        <p:spPr>
          <a:xfrm>
            <a:off x="92850" y="1515475"/>
            <a:ext cx="9476700" cy="520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 = "Вихри снежные крутя"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s2 = list(s1)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print(s2)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# Выведет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['В', 'и', 'х', 'р', 'и', ' ', 'с', 'н', 'е', 'ж', 'н', 'ы', 'е', ' ', 'к', 'р', 'у', 'т', 'я']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0" name="Google Shape;420;p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8"/>
          <p:cNvSpPr txBox="1"/>
          <p:nvPr>
            <p:ph type="title"/>
          </p:nvPr>
        </p:nvSpPr>
        <p:spPr>
          <a:xfrm>
            <a:off x="2925275" y="136525"/>
            <a:ext cx="91878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Удаление всех элементов списка</a:t>
            </a:r>
            <a:endParaRPr sz="4000"/>
          </a:p>
        </p:txBody>
      </p:sp>
      <p:sp>
        <p:nvSpPr>
          <p:cNvPr id="427" name="Google Shape;427;p48"/>
          <p:cNvSpPr txBox="1"/>
          <p:nvPr>
            <p:ph idx="1" type="body"/>
          </p:nvPr>
        </p:nvSpPr>
        <p:spPr>
          <a:xfrm>
            <a:off x="322425" y="1759375"/>
            <a:ext cx="11437800" cy="452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pokupki = ['молоко', 'сметана', 'сыр', 'хлеб']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pokupki.clear()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print(pokupki)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# Выведет []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8" name="Google Shape;428;p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9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Перебор в цикле</a:t>
            </a:r>
            <a:endParaRPr/>
          </a:p>
        </p:txBody>
      </p:sp>
      <p:sp>
        <p:nvSpPr>
          <p:cNvPr id="435" name="Google Shape;435;p49"/>
          <p:cNvSpPr txBox="1"/>
          <p:nvPr>
            <p:ph idx="1" type="body"/>
          </p:nvPr>
        </p:nvSpPr>
        <p:spPr>
          <a:xfrm>
            <a:off x="92850" y="1768650"/>
            <a:ext cx="12006300" cy="5089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s1 = [1,2,3,4,5]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for i in s1: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print(i * 10) 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30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50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6" name="Google Shape;436;p4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0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Кортежи</a:t>
            </a:r>
            <a:endParaRPr/>
          </a:p>
        </p:txBody>
      </p:sp>
      <p:sp>
        <p:nvSpPr>
          <p:cNvPr id="443" name="Google Shape;443;p50"/>
          <p:cNvSpPr txBox="1"/>
          <p:nvPr>
            <p:ph idx="1" type="body"/>
          </p:nvPr>
        </p:nvSpPr>
        <p:spPr>
          <a:xfrm>
            <a:off x="92850" y="1768650"/>
            <a:ext cx="11261100" cy="5089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Кортеж представляет собой упорядоченную коллекцию элементов, но в отличие от списков, они неизменяемы. 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Кортеж создаётся с помощью круглых скобок ().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leto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= ('июнь', 'июль', 'август')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4" name="Google Shape;444;p5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1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Отсутствующие методы</a:t>
            </a:r>
            <a:endParaRPr/>
          </a:p>
        </p:txBody>
      </p:sp>
      <p:sp>
        <p:nvSpPr>
          <p:cNvPr id="451" name="Google Shape;451;p51"/>
          <p:cNvSpPr txBox="1"/>
          <p:nvPr>
            <p:ph idx="1" type="body"/>
          </p:nvPr>
        </p:nvSpPr>
        <p:spPr>
          <a:xfrm>
            <a:off x="92850" y="1768650"/>
            <a:ext cx="11261100" cy="5089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append() — добавление элемента в конец списка.</a:t>
            </a:r>
            <a:endParaRPr sz="3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extend() — расширение списка путем добавления элементов из другого итерируемого объекта.</a:t>
            </a:r>
            <a:endParaRPr sz="3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insert() — вставка элемента на определенную позицию в списке.</a:t>
            </a:r>
            <a:endParaRPr sz="3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remove() — удаление первого встреченного элемента с определенным значением.</a:t>
            </a:r>
            <a:endParaRPr sz="3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clear() — удаление всех элементов из списка.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2" name="Google Shape;452;p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2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Общие методы</a:t>
            </a:r>
            <a:endParaRPr/>
          </a:p>
        </p:txBody>
      </p:sp>
      <p:sp>
        <p:nvSpPr>
          <p:cNvPr id="459" name="Google Shape;459;p52"/>
          <p:cNvSpPr txBox="1"/>
          <p:nvPr>
            <p:ph idx="1" type="body"/>
          </p:nvPr>
        </p:nvSpPr>
        <p:spPr>
          <a:xfrm>
            <a:off x="92850" y="1768650"/>
            <a:ext cx="11261100" cy="3812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len() — Возвращает длину строки или кортежа (количество элементов).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count() — Подсчитывает количество определенного элемента в строке или кортеже.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/>
              <a:t>index() — Возвращает индекс первого вхождения определенного элемента в строке или кортеже.</a:t>
            </a:r>
            <a:endParaRPr sz="3000"/>
          </a:p>
        </p:txBody>
      </p:sp>
      <p:sp>
        <p:nvSpPr>
          <p:cNvPr id="460" name="Google Shape;460;p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3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Подсчет элементов</a:t>
            </a:r>
            <a:endParaRPr/>
          </a:p>
        </p:txBody>
      </p:sp>
      <p:sp>
        <p:nvSpPr>
          <p:cNvPr id="467" name="Google Shape;467;p53"/>
          <p:cNvSpPr txBox="1"/>
          <p:nvPr>
            <p:ph idx="1" type="body"/>
          </p:nvPr>
        </p:nvSpPr>
        <p:spPr>
          <a:xfrm>
            <a:off x="92850" y="1768650"/>
            <a:ext cx="11261100" cy="3812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k = (1, 2, 1, 3, 1, 4) 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print(k.count(1))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# Выведет 3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print(k.count(2))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# Выведет 1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8" name="Google Shape;468;p5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4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Поиск </a:t>
            </a:r>
            <a:r>
              <a:rPr lang="en-US"/>
              <a:t>элемента</a:t>
            </a:r>
            <a:endParaRPr/>
          </a:p>
        </p:txBody>
      </p:sp>
      <p:sp>
        <p:nvSpPr>
          <p:cNvPr id="475" name="Google Shape;475;p54"/>
          <p:cNvSpPr txBox="1"/>
          <p:nvPr>
            <p:ph idx="1" type="body"/>
          </p:nvPr>
        </p:nvSpPr>
        <p:spPr>
          <a:xfrm>
            <a:off x="92850" y="1768650"/>
            <a:ext cx="11261100" cy="5089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k = (1, 2, 1, 3, 1, 4) 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print(k.index(1))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# Выведет 0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print(k.index(2))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# Выведет 1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print(k.index(1,3))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# Выведет 4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6" name="Google Shape;476;p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5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483" name="Google Shape;483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Запишите английские слова</a:t>
            </a:r>
            <a:endParaRPr/>
          </a:p>
        </p:txBody>
      </p:sp>
      <p:sp>
        <p:nvSpPr>
          <p:cNvPr id="490" name="Google Shape;490;p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91" name="Google Shape;491;p56"/>
          <p:cNvGraphicFramePr/>
          <p:nvPr/>
        </p:nvGraphicFramePr>
        <p:xfrm>
          <a:off x="3352325" y="15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{386B0F24-1D89-4ACD-A360-2757176C8E5A}</a:tableStyleId>
              </a:tblPr>
              <a:tblGrid>
                <a:gridCol w="2051175"/>
                <a:gridCol w="205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home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дом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ввод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ошибка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значение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новый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поделиться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copy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копировать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folder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папка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